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MedX : téléconsultations, dossiers patients et prescriptions dans une seule plateforme. Notre conception part des priorités du sujet : protéger les données et les rendre accessibles en urgence. Rouge, orange et gris indiquent les priorités haute, moyenne et basse sur chaque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rapide des trois colonnes. La phrase clé est en bas : toutes les fonctions ne reçoivent pas le même traitement. C'est notre réponse au critère d'alignement sur les priorités.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de gauche à droite : utilisateurs, périphérie (CloudFront et pare-feu), API Gateway avec Keycloak pour la connexion, les huit services, puis les données. Les services communiquent surtout via un bus d'événements. En bas à gauche : la région de secours de Francfort et la ligne d'astreinte de dernier recours pour les urgences.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services sont rangés par priorité. Il n'existe que quatre appels directs, tous vers le haut, vers des services plus critiques. Le reste passe par des événements : un service lent de priorité basse met simplement le travail en file au lieu de tout bloquer. En bas : le cycle de vie d'une prescription. Une prescription signée n'est jamais modifiée, et sa révocation alerte immédiatement la pharmacie.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se rejoignent les deux priorités hautes. Les informations vitales sont préparées à l'avance, donc leur lecture est instantanée. La sécurité vient du processus : MFA, vérification du RPPS, entrée au journal écrite avant tout affichage, limite de 60 minutes, patient informé, et contrôle de chaque accès. En cas de panne : Redis indisponible, lecture en base ; Paris indisponible, Francfort ; tout indisponible, astreinte téléphonique 24h/24.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 des dossiers et l'intégrité des données sont deux priorités hautes. Le stockage reste simple : une base PostgreSQL avec un schéma par service, S3 pour les fichiers, Redis pour les lectures rapides. L'intégrité repose sur le versionnement, les empreintes, le stockage verrouillé et des sauvegardes réellement testées.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couches de protection. Celle à souligner est la troisième : le chiffrement de la base seul ne protège pas contre une sauvegarde volée ou un initié ; chiffrer les champs sensibles dans le service, si. À droite, la règle d'accès : rôle plus relation. Un médecin a besoin d'une raison pour voir un patient donné.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chiffres viennent de nos hypothèses : 8 millions de consultations par an, soit 32 000 par jour ; l'heure de pointe donne environ 1 600 appels simultanés, donc 5 000 laisse une marge pour une épidémie. La décision clé est d'utiliser un service vidéo géré. Sous pression, le travail de priorité basse attend en file pendant que les services critiques continuent.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Choisir deux lignes si le temps manque. Le résumé d'urgence : nous acceptons quelques secondes de retard sur le dossier, en échange de la rapidité et du fonctionnement même si d'autres parties sont en panne. La base unique : plus simple aujourd'hui, et chaque schéma peut migrer vers sa propre base si un service grossit.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Récapituler les quatre points, puis questions. Questions probables : pourquoi AWS (certification HDS à Paris), pourquoi pas une seule application (pannes contenues, montée en charge séparée), le résumé d'urgence est-il à jour (à quelques secondes près, il est rafraîchi à chaque modification du dossier), et si la vidéo tombe (bascule en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503920" y="-1463040"/>
            <a:ext cx="5120640" cy="5120640"/>
          </a:xfrm>
          <a:prstGeom prst="ellipse">
            <a:avLst/>
          </a:prstGeom>
          <a:solidFill>
            <a:srgbClr val="0F766E"/>
          </a:solidFill>
          <a:ln w="12700">
            <a:solidFill>
              <a:srgbClr val="0F766E"/>
            </a:solidFill>
            <a:prstDash val="solid"/>
          </a:ln>
        </p:spPr>
      </p:sp>
      <p:sp>
        <p:nvSpPr>
          <p:cNvPr id="3" name="Shape 1"/>
          <p:cNvSpPr/>
          <p:nvPr/>
        </p:nvSpPr>
        <p:spPr>
          <a:xfrm>
            <a:off x="10607040" y="3017520"/>
            <a:ext cx="2377440" cy="2377440"/>
          </a:xfrm>
          <a:prstGeom prst="ellipse">
            <a:avLst/>
          </a:prstGeom>
          <a:solidFill>
            <a:srgbClr val="134E4A"/>
          </a:solidFill>
          <a:ln w="12700">
            <a:solidFill>
              <a:srgbClr val="134E4A"/>
            </a:solidFill>
            <a:prstDash val="solid"/>
          </a:ln>
        </p:spPr>
      </p:sp>
      <p:sp>
        <p:nvSpPr>
          <p:cNvPr id="4" name="Shape 2"/>
          <p:cNvSpPr/>
          <p:nvPr/>
        </p:nvSpPr>
        <p:spPr>
          <a:xfrm>
            <a:off x="10012680" y="411480"/>
            <a:ext cx="2103120" cy="210312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10517429" y="916229"/>
            <a:ext cx="1093622" cy="1093622"/>
          </a:xfrm>
          <a:prstGeom prst="rect">
            <a:avLst/>
          </a:prstGeom>
        </p:spPr>
      </p:pic>
      <p:sp>
        <p:nvSpPr>
          <p:cNvPr id="6" name="Text 3"/>
          <p:cNvSpPr txBox="1"/>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CADCFC"/>
                </a:solidFill>
              </a:rPr>
              <a:t>MINI-PROJET · ARCHITECTURE DE SOLUTION</a:t>
            </a:r>
            <a:endParaRPr lang="en-US" sz="1400" dirty="0"/>
          </a:p>
        </p:txBody>
      </p:sp>
      <p:sp>
        <p:nvSpPr>
          <p:cNvPr id="7" name="Text 4"/>
          <p:cNvSpPr txBox="1"/>
          <p:nvPr/>
        </p:nvSpPr>
        <p:spPr>
          <a:xfrm>
            <a:off x="640080" y="2011680"/>
            <a:ext cx="7315200" cy="1188720"/>
          </a:xfrm>
          <a:prstGeom prst="rect">
            <a:avLst/>
          </a:prstGeom>
          <a:noFill/>
          <a:ln/>
        </p:spPr>
        <p:txBody>
          <a:bodyPr wrap="square" lIns="0" tIns="0" rIns="0" bIns="0" rtlCol="0" anchor="ctr"/>
          <a:lstStyle/>
          <a:p>
            <a:pPr indent="0" marL="0">
              <a:buNone/>
            </a:pPr>
            <a:r>
              <a:rPr lang="en-US" sz="7200" b="1" dirty="0">
                <a:solidFill>
                  <a:srgbClr val="FFFFFF"/>
                </a:solidFill>
              </a:rPr>
              <a:t>MedX</a:t>
            </a:r>
            <a:endParaRPr lang="en-US" sz="7200" dirty="0"/>
          </a:p>
        </p:txBody>
      </p:sp>
      <p:sp>
        <p:nvSpPr>
          <p:cNvPr id="8" name="Text 5"/>
          <p:cNvSpPr txBox="1"/>
          <p:nvPr/>
        </p:nvSpPr>
        <p:spPr>
          <a:xfrm>
            <a:off x="640080" y="3200400"/>
            <a:ext cx="8229600" cy="640080"/>
          </a:xfrm>
          <a:prstGeom prst="rect">
            <a:avLst/>
          </a:prstGeom>
          <a:noFill/>
          <a:ln/>
        </p:spPr>
        <p:txBody>
          <a:bodyPr wrap="square" lIns="0" tIns="0" rIns="0" bIns="0" rtlCol="0" anchor="ctr"/>
          <a:lstStyle/>
          <a:p>
            <a:pPr indent="0" marL="0">
              <a:buNone/>
            </a:pPr>
            <a:r>
              <a:rPr lang="en-US" sz="3000" dirty="0">
                <a:solidFill>
                  <a:srgbClr val="FFFFFF"/>
                </a:solidFill>
              </a:rPr>
              <a:t>Plateforme de santé — Architecture technique</a:t>
            </a:r>
            <a:endParaRPr lang="en-US" sz="3000" dirty="0"/>
          </a:p>
        </p:txBody>
      </p:sp>
      <p:sp>
        <p:nvSpPr>
          <p:cNvPr id="9" name="Text 6"/>
          <p:cNvSpPr txBox="1"/>
          <p:nvPr/>
        </p:nvSpPr>
        <p:spPr>
          <a:xfrm>
            <a:off x="640080" y="3931920"/>
            <a:ext cx="8686800" cy="457200"/>
          </a:xfrm>
          <a:prstGeom prst="rect">
            <a:avLst/>
          </a:prstGeom>
          <a:noFill/>
          <a:ln/>
        </p:spPr>
        <p:txBody>
          <a:bodyPr wrap="square" lIns="0" tIns="0" rIns="0" bIns="0" rtlCol="0" anchor="ctr"/>
          <a:lstStyle/>
          <a:p>
            <a:pPr indent="0" marL="0">
              <a:buNone/>
            </a:pPr>
            <a:r>
              <a:rPr lang="en-US" sz="1700" i="1" dirty="0">
                <a:solidFill>
                  <a:srgbClr val="CADCFC"/>
                </a:solidFill>
              </a:rPr>
              <a:t>Protéger les données. Y accéder en urgence. Garder le reste simple.</a:t>
            </a:r>
            <a:endParaRPr lang="en-US" sz="1700" dirty="0"/>
          </a:p>
        </p:txBody>
      </p:sp>
      <p:sp>
        <p:nvSpPr>
          <p:cNvPr id="10" name="Text 7"/>
          <p:cNvSpPr txBox="1"/>
          <p:nvPr/>
        </p:nvSpPr>
        <p:spPr>
          <a:xfrm>
            <a:off x="640080" y="5989320"/>
            <a:ext cx="8686800" cy="365760"/>
          </a:xfrm>
          <a:prstGeom prst="rect">
            <a:avLst/>
          </a:prstGeom>
          <a:noFill/>
          <a:ln/>
        </p:spPr>
        <p:txBody>
          <a:bodyPr wrap="square" lIns="0" tIns="0" rIns="0" bIns="0" rtlCol="0" anchor="ctr"/>
          <a:lstStyle/>
          <a:p>
            <a:pPr indent="0" marL="0">
              <a:buNone/>
            </a:pPr>
            <a:r>
              <a:rPr lang="en-US" sz="1300" dirty="0">
                <a:solidFill>
                  <a:srgbClr val="FFFFFF"/>
                </a:solidFill>
              </a:rPr>
              <a:t>Ayman EL KARROUSSI · Abdoulaye FOFANA · Hamid AIT MIMOUN  —  Octobre 2026</a:t>
            </a:r>
            <a:endParaRPr lang="en-US" sz="1300" dirty="0"/>
          </a:p>
        </p:txBody>
      </p:sp>
      <p:sp>
        <p:nvSpPr>
          <p:cNvPr id="11" name="Shape 8"/>
          <p:cNvSpPr/>
          <p:nvPr/>
        </p:nvSpPr>
        <p:spPr>
          <a:xfrm>
            <a:off x="640080" y="4983480"/>
            <a:ext cx="2011680" cy="384048"/>
          </a:xfrm>
          <a:prstGeom prst="roundRect">
            <a:avLst>
              <a:gd name="adj" fmla="val 47619"/>
            </a:avLst>
          </a:prstGeom>
          <a:solidFill>
            <a:srgbClr val="C0392B"/>
          </a:solidFill>
          <a:ln w="12700">
            <a:solidFill>
              <a:srgbClr val="C0392B"/>
            </a:solidFill>
            <a:prstDash val="solid"/>
          </a:ln>
        </p:spPr>
      </p:sp>
      <p:sp>
        <p:nvSpPr>
          <p:cNvPr id="12" name="Text 9"/>
          <p:cNvSpPr txBox="1"/>
          <p:nvPr/>
        </p:nvSpPr>
        <p:spPr>
          <a:xfrm>
            <a:off x="640080" y="4983480"/>
            <a:ext cx="2011680" cy="384048"/>
          </a:xfrm>
          <a:prstGeom prst="rect">
            <a:avLst/>
          </a:prstGeom>
          <a:noFill/>
          <a:ln/>
        </p:spPr>
        <p:txBody>
          <a:bodyPr wrap="square" lIns="0" tIns="0" rIns="0" bIns="0" rtlCol="0" anchor="ctr"/>
          <a:lstStyle/>
          <a:p>
            <a:pPr algn="ctr" indent="0" marL="0">
              <a:buNone/>
            </a:pPr>
            <a:r>
              <a:rPr lang="en-US" sz="1100" b="1" dirty="0">
                <a:solidFill>
                  <a:srgbClr val="FFFFFF"/>
                </a:solidFill>
              </a:rPr>
              <a:t>PRIORITÉ HAUTE</a:t>
            </a:r>
            <a:endParaRPr lang="en-US" sz="1100" dirty="0"/>
          </a:p>
        </p:txBody>
      </p:sp>
      <p:sp>
        <p:nvSpPr>
          <p:cNvPr id="13" name="Shape 10"/>
          <p:cNvSpPr/>
          <p:nvPr/>
        </p:nvSpPr>
        <p:spPr>
          <a:xfrm>
            <a:off x="2788920" y="4983480"/>
            <a:ext cx="2011680" cy="384048"/>
          </a:xfrm>
          <a:prstGeom prst="roundRect">
            <a:avLst>
              <a:gd name="adj" fmla="val 47619"/>
            </a:avLst>
          </a:prstGeom>
          <a:solidFill>
            <a:srgbClr val="B9770E"/>
          </a:solidFill>
          <a:ln w="12700">
            <a:solidFill>
              <a:srgbClr val="B9770E"/>
            </a:solidFill>
            <a:prstDash val="solid"/>
          </a:ln>
        </p:spPr>
      </p:sp>
      <p:sp>
        <p:nvSpPr>
          <p:cNvPr id="14" name="Text 11"/>
          <p:cNvSpPr txBox="1"/>
          <p:nvPr/>
        </p:nvSpPr>
        <p:spPr>
          <a:xfrm>
            <a:off x="2788920" y="4983480"/>
            <a:ext cx="2011680" cy="384048"/>
          </a:xfrm>
          <a:prstGeom prst="rect">
            <a:avLst/>
          </a:prstGeom>
          <a:noFill/>
          <a:ln/>
        </p:spPr>
        <p:txBody>
          <a:bodyPr wrap="square" lIns="0" tIns="0" rIns="0" bIns="0" rtlCol="0" anchor="ctr"/>
          <a:lstStyle/>
          <a:p>
            <a:pPr algn="ctr" indent="0" marL="0">
              <a:buNone/>
            </a:pPr>
            <a:r>
              <a:rPr lang="en-US" sz="1100" b="1" dirty="0">
                <a:solidFill>
                  <a:srgbClr val="FFFFFF"/>
                </a:solidFill>
              </a:rPr>
              <a:t>PRIORITÉ MOYENNE</a:t>
            </a:r>
            <a:endParaRPr lang="en-US" sz="1100" dirty="0"/>
          </a:p>
        </p:txBody>
      </p:sp>
      <p:sp>
        <p:nvSpPr>
          <p:cNvPr id="15" name="Shape 12"/>
          <p:cNvSpPr/>
          <p:nvPr/>
        </p:nvSpPr>
        <p:spPr>
          <a:xfrm>
            <a:off x="4937760" y="4983480"/>
            <a:ext cx="2011680" cy="384048"/>
          </a:xfrm>
          <a:prstGeom prst="roundRect">
            <a:avLst>
              <a:gd name="adj" fmla="val 47619"/>
            </a:avLst>
          </a:prstGeom>
          <a:solidFill>
            <a:srgbClr val="5D6D7E"/>
          </a:solidFill>
          <a:ln w="12700">
            <a:solidFill>
              <a:srgbClr val="5D6D7E"/>
            </a:solidFill>
            <a:prstDash val="solid"/>
          </a:ln>
        </p:spPr>
      </p:sp>
      <p:sp>
        <p:nvSpPr>
          <p:cNvPr id="16" name="Text 13"/>
          <p:cNvSpPr txBox="1"/>
          <p:nvPr/>
        </p:nvSpPr>
        <p:spPr>
          <a:xfrm>
            <a:off x="4937760" y="4983480"/>
            <a:ext cx="2011680" cy="384048"/>
          </a:xfrm>
          <a:prstGeom prst="rect">
            <a:avLst/>
          </a:prstGeom>
          <a:noFill/>
          <a:ln/>
        </p:spPr>
        <p:txBody>
          <a:bodyPr wrap="square" lIns="0" tIns="0" rIns="0" bIns="0" rtlCol="0" anchor="ctr"/>
          <a:lstStyle/>
          <a:p>
            <a:pPr algn="ctr" indent="0" marL="0">
              <a:buNone/>
            </a:pPr>
            <a:r>
              <a:rPr lang="en-US" sz="1100" b="1" dirty="0">
                <a:solidFill>
                  <a:srgbClr val="FFFFFF"/>
                </a:solidFill>
              </a:rPr>
              <a:t>PRIORITÉ BASSE</a:t>
            </a:r>
            <a:endParaRPr lang="en-US" sz="1100" dirty="0"/>
          </a:p>
        </p:txBody>
      </p:sp>
      <p:sp>
        <p:nvSpPr>
          <p:cNvPr id="17" name="Text 14"/>
          <p:cNvSpPr txBox="1"/>
          <p:nvPr/>
        </p:nvSpPr>
        <p:spPr>
          <a:xfrm>
            <a:off x="7132320" y="4983480"/>
            <a:ext cx="3657600" cy="384048"/>
          </a:xfrm>
          <a:prstGeom prst="rect">
            <a:avLst/>
          </a:prstGeom>
          <a:noFill/>
          <a:ln/>
        </p:spPr>
        <p:txBody>
          <a:bodyPr wrap="square" lIns="0" tIns="0" rIns="0" bIns="0" rtlCol="0" anchor="ctr"/>
          <a:lstStyle/>
          <a:p>
            <a:pPr indent="0" marL="0">
              <a:buNone/>
            </a:pPr>
            <a:r>
              <a:rPr lang="en-US" sz="1100" i="1" dirty="0">
                <a:solidFill>
                  <a:srgbClr val="CADCFC"/>
                </a:solidFill>
              </a:rPr>
              <a:t>code couleur utilisé sur chaque diapositive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Ce qui compte pour MedX</a:t>
            </a:r>
            <a:endParaRPr lang="en-US" sz="3200" dirty="0"/>
          </a:p>
        </p:txBody>
      </p:sp>
      <p:sp>
        <p:nvSpPr>
          <p:cNvPr id="3" name="Text 1"/>
          <p:cNvSpPr txBox="1"/>
          <p:nvPr/>
        </p:nvSpPr>
        <p:spPr>
          <a:xfrm>
            <a:off x="548640" y="987552"/>
            <a:ext cx="11094415"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L'annexe 2 du sujet guide chaque choix de cette conception</a:t>
            </a:r>
            <a:endParaRPr lang="en-US" sz="1500" dirty="0"/>
          </a:p>
        </p:txBody>
      </p:sp>
      <p:sp>
        <p:nvSpPr>
          <p:cNvPr id="4" name="Shape 2"/>
          <p:cNvSpPr/>
          <p:nvPr/>
        </p:nvSpPr>
        <p:spPr>
          <a:xfrm>
            <a:off x="548640" y="1600200"/>
            <a:ext cx="3520440" cy="4069080"/>
          </a:xfrm>
          <a:prstGeom prst="rect">
            <a:avLst/>
          </a:prstGeom>
          <a:solidFill>
            <a:srgbClr val="FDEDEC"/>
          </a:solidFill>
          <a:ln w="19050">
            <a:solidFill>
              <a:srgbClr val="C0392B"/>
            </a:solidFill>
            <a:prstDash val="solid"/>
          </a:ln>
        </p:spPr>
      </p:sp>
      <p:sp>
        <p:nvSpPr>
          <p:cNvPr id="5" name="Shape 3"/>
          <p:cNvSpPr/>
          <p:nvPr/>
        </p:nvSpPr>
        <p:spPr>
          <a:xfrm>
            <a:off x="822960" y="1810512"/>
            <a:ext cx="685800" cy="6858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987552" y="1975104"/>
            <a:ext cx="356616" cy="356616"/>
          </a:xfrm>
          <a:prstGeom prst="rect">
            <a:avLst/>
          </a:prstGeom>
        </p:spPr>
      </p:pic>
      <p:sp>
        <p:nvSpPr>
          <p:cNvPr id="7" name="Text 4"/>
          <p:cNvSpPr txBox="1"/>
          <p:nvPr/>
        </p:nvSpPr>
        <p:spPr>
          <a:xfrm>
            <a:off x="1645920" y="1874520"/>
            <a:ext cx="2286000" cy="548640"/>
          </a:xfrm>
          <a:prstGeom prst="rect">
            <a:avLst/>
          </a:prstGeom>
          <a:noFill/>
          <a:ln/>
        </p:spPr>
        <p:txBody>
          <a:bodyPr wrap="square" lIns="0" tIns="0" rIns="0" bIns="0" rtlCol="0" anchor="ctr"/>
          <a:lstStyle/>
          <a:p>
            <a:pPr indent="0" marL="0">
              <a:buNone/>
            </a:pPr>
            <a:r>
              <a:rPr lang="en-US" sz="2200" b="1" dirty="0">
                <a:solidFill>
                  <a:srgbClr val="C0392B"/>
                </a:solidFill>
              </a:rPr>
              <a:t>HAUTE</a:t>
            </a:r>
            <a:endParaRPr lang="en-US" sz="2200" dirty="0"/>
          </a:p>
        </p:txBody>
      </p:sp>
      <p:sp>
        <p:nvSpPr>
          <p:cNvPr id="8" name="Text 5"/>
          <p:cNvSpPr txBox="1"/>
          <p:nvPr/>
        </p:nvSpPr>
        <p:spPr>
          <a:xfrm>
            <a:off x="822960" y="2697480"/>
            <a:ext cx="306324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0B2545"/>
                </a:solidFill>
              </a:rPr>
              <a:t>Confidentialité des données</a:t>
            </a:r>
            <a:endParaRPr lang="en-US" sz="1700" dirty="0"/>
          </a:p>
          <a:p>
            <a:pPr marL="342900" indent="-342900">
              <a:spcAft>
                <a:spcPts val="1000"/>
              </a:spcAft>
              <a:buSzPct val="100000"/>
              <a:buChar char="•"/>
            </a:pPr>
            <a:r>
              <a:rPr lang="en-US" sz="1700" dirty="0">
                <a:solidFill>
                  <a:srgbClr val="0B2545"/>
                </a:solidFill>
              </a:rPr>
              <a:t>Dossiers patients</a:t>
            </a:r>
            <a:endParaRPr lang="en-US" sz="1700" dirty="0"/>
          </a:p>
          <a:p>
            <a:pPr marL="342900" indent="-342900">
              <a:spcAft>
                <a:spcPts val="1000"/>
              </a:spcAft>
              <a:buSzPct val="100000"/>
              <a:buChar char="•"/>
            </a:pPr>
            <a:r>
              <a:rPr lang="en-US" sz="1700" dirty="0">
                <a:solidFill>
                  <a:srgbClr val="0B2545"/>
                </a:solidFill>
              </a:rPr>
              <a:t>Accès d'urgence</a:t>
            </a:r>
            <a:endParaRPr lang="en-US" sz="1700" dirty="0"/>
          </a:p>
          <a:p>
            <a:pPr marL="342900" indent="-342900">
              <a:spcAft>
                <a:spcPts val="1000"/>
              </a:spcAft>
              <a:buSzPct val="100000"/>
              <a:buChar char="•"/>
            </a:pPr>
            <a:r>
              <a:rPr lang="en-US" sz="1700" dirty="0">
                <a:solidFill>
                  <a:srgbClr val="0B2545"/>
                </a:solidFill>
              </a:rPr>
              <a:t>Authentification &amp; droits</a:t>
            </a:r>
            <a:endParaRPr lang="en-US" sz="1700" dirty="0"/>
          </a:p>
          <a:p>
            <a:pPr marL="342900" indent="-342900">
              <a:spcAft>
                <a:spcPts val="1000"/>
              </a:spcAft>
              <a:buSzPct val="100000"/>
              <a:buChar char="•"/>
            </a:pPr>
            <a:r>
              <a:rPr lang="en-US" sz="1700" dirty="0">
                <a:solidFill>
                  <a:srgbClr val="0B2545"/>
                </a:solidFill>
              </a:rPr>
              <a:t>Intégrité des données</a:t>
            </a:r>
            <a:endParaRPr lang="en-US" sz="1700" dirty="0"/>
          </a:p>
        </p:txBody>
      </p:sp>
      <p:sp>
        <p:nvSpPr>
          <p:cNvPr id="9" name="Shape 6"/>
          <p:cNvSpPr/>
          <p:nvPr/>
        </p:nvSpPr>
        <p:spPr>
          <a:xfrm>
            <a:off x="4297680" y="1600200"/>
            <a:ext cx="3520440" cy="4069080"/>
          </a:xfrm>
          <a:prstGeom prst="rect">
            <a:avLst/>
          </a:prstGeom>
          <a:solidFill>
            <a:srgbClr val="FEF5E7"/>
          </a:solidFill>
          <a:ln w="19050">
            <a:solidFill>
              <a:srgbClr val="B9770E"/>
            </a:solidFill>
            <a:prstDash val="solid"/>
          </a:ln>
        </p:spPr>
      </p:sp>
      <p:sp>
        <p:nvSpPr>
          <p:cNvPr id="10" name="Shape 7"/>
          <p:cNvSpPr/>
          <p:nvPr/>
        </p:nvSpPr>
        <p:spPr>
          <a:xfrm>
            <a:off x="4572000" y="1810512"/>
            <a:ext cx="685800" cy="685800"/>
          </a:xfrm>
          <a:prstGeom prst="ellipse">
            <a:avLst/>
          </a:prstGeom>
          <a:solidFill>
            <a:srgbClr val="B9770E"/>
          </a:solidFill>
          <a:ln w="12700">
            <a:solidFill>
              <a:srgbClr val="B9770E"/>
            </a:solidFill>
            <a:prstDash val="solid"/>
          </a:ln>
        </p:spPr>
      </p:sp>
      <p:pic>
        <p:nvPicPr>
          <p:cNvPr id="11" name="Image 1" descr="preencoded.png">    </p:cNvPr>
          <p:cNvPicPr>
            <a:picLocks noChangeAspect="1"/>
          </p:cNvPicPr>
          <p:nvPr/>
        </p:nvPicPr>
        <p:blipFill>
          <a:blip r:embed="rId2"/>
          <a:stretch>
            <a:fillRect/>
          </a:stretch>
        </p:blipFill>
        <p:spPr>
          <a:xfrm>
            <a:off x="4736592" y="1975104"/>
            <a:ext cx="356616" cy="356616"/>
          </a:xfrm>
          <a:prstGeom prst="rect">
            <a:avLst/>
          </a:prstGeom>
        </p:spPr>
      </p:pic>
      <p:sp>
        <p:nvSpPr>
          <p:cNvPr id="12" name="Text 8"/>
          <p:cNvSpPr txBox="1"/>
          <p:nvPr/>
        </p:nvSpPr>
        <p:spPr>
          <a:xfrm>
            <a:off x="5394960" y="1874520"/>
            <a:ext cx="2286000" cy="548640"/>
          </a:xfrm>
          <a:prstGeom prst="rect">
            <a:avLst/>
          </a:prstGeom>
          <a:noFill/>
          <a:ln/>
        </p:spPr>
        <p:txBody>
          <a:bodyPr wrap="square" lIns="0" tIns="0" rIns="0" bIns="0" rtlCol="0" anchor="ctr"/>
          <a:lstStyle/>
          <a:p>
            <a:pPr indent="0" marL="0">
              <a:buNone/>
            </a:pPr>
            <a:r>
              <a:rPr lang="en-US" sz="2200" b="1" dirty="0">
                <a:solidFill>
                  <a:srgbClr val="B9770E"/>
                </a:solidFill>
              </a:rPr>
              <a:t>MOYENNE</a:t>
            </a:r>
            <a:endParaRPr lang="en-US" sz="2200" dirty="0"/>
          </a:p>
        </p:txBody>
      </p:sp>
      <p:sp>
        <p:nvSpPr>
          <p:cNvPr id="13" name="Text 9"/>
          <p:cNvSpPr txBox="1"/>
          <p:nvPr/>
        </p:nvSpPr>
        <p:spPr>
          <a:xfrm>
            <a:off x="4572000" y="2697480"/>
            <a:ext cx="306324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0B2545"/>
                </a:solidFill>
              </a:rPr>
              <a:t>Planification</a:t>
            </a:r>
            <a:endParaRPr lang="en-US" sz="1700" dirty="0"/>
          </a:p>
          <a:p>
            <a:pPr marL="342900" indent="-342900">
              <a:spcAft>
                <a:spcPts val="1000"/>
              </a:spcAft>
              <a:buSzPct val="100000"/>
              <a:buChar char="•"/>
            </a:pPr>
            <a:r>
              <a:rPr lang="en-US" sz="1700" dirty="0">
                <a:solidFill>
                  <a:srgbClr val="0B2545"/>
                </a:solidFill>
              </a:rPr>
              <a:t>Téléconsultations vidéo</a:t>
            </a:r>
            <a:endParaRPr lang="en-US" sz="1700" dirty="0"/>
          </a:p>
          <a:p>
            <a:pPr marL="342900" indent="-342900">
              <a:spcAft>
                <a:spcPts val="1000"/>
              </a:spcAft>
              <a:buSzPct val="100000"/>
              <a:buChar char="•"/>
            </a:pPr>
            <a:r>
              <a:rPr lang="en-US" sz="1700" dirty="0">
                <a:solidFill>
                  <a:srgbClr val="0B2545"/>
                </a:solidFill>
              </a:rPr>
              <a:t>Prescriptions</a:t>
            </a:r>
            <a:endParaRPr lang="en-US" sz="1700" dirty="0"/>
          </a:p>
          <a:p>
            <a:pPr marL="342900" indent="-342900">
              <a:spcAft>
                <a:spcPts val="1000"/>
              </a:spcAft>
              <a:buSzPct val="100000"/>
              <a:buChar char="•"/>
            </a:pPr>
            <a:r>
              <a:rPr lang="en-US" sz="1700" dirty="0">
                <a:solidFill>
                  <a:srgbClr val="0B2545"/>
                </a:solidFill>
              </a:rPr>
              <a:t>Masquage des données</a:t>
            </a:r>
            <a:endParaRPr lang="en-US" sz="1700" dirty="0"/>
          </a:p>
          <a:p>
            <a:pPr marL="342900" indent="-342900">
              <a:spcAft>
                <a:spcPts val="1000"/>
              </a:spcAft>
              <a:buSzPct val="100000"/>
              <a:buChar char="•"/>
            </a:pPr>
            <a:r>
              <a:rPr lang="en-US" sz="1700" dirty="0">
                <a:solidFill>
                  <a:srgbClr val="0B2545"/>
                </a:solidFill>
              </a:rPr>
              <a:t>Agendas externes</a:t>
            </a:r>
            <a:endParaRPr lang="en-US" sz="1700" dirty="0"/>
          </a:p>
        </p:txBody>
      </p:sp>
      <p:sp>
        <p:nvSpPr>
          <p:cNvPr id="14" name="Shape 10"/>
          <p:cNvSpPr/>
          <p:nvPr/>
        </p:nvSpPr>
        <p:spPr>
          <a:xfrm>
            <a:off x="8046720" y="1600200"/>
            <a:ext cx="3520440" cy="4069080"/>
          </a:xfrm>
          <a:prstGeom prst="rect">
            <a:avLst/>
          </a:prstGeom>
          <a:solidFill>
            <a:srgbClr val="EEF1F4"/>
          </a:solidFill>
          <a:ln w="19050">
            <a:solidFill>
              <a:srgbClr val="5D6D7E"/>
            </a:solidFill>
            <a:prstDash val="solid"/>
          </a:ln>
        </p:spPr>
      </p:sp>
      <p:sp>
        <p:nvSpPr>
          <p:cNvPr id="15" name="Shape 11"/>
          <p:cNvSpPr/>
          <p:nvPr/>
        </p:nvSpPr>
        <p:spPr>
          <a:xfrm>
            <a:off x="8321040" y="1810512"/>
            <a:ext cx="685800" cy="685800"/>
          </a:xfrm>
          <a:prstGeom prst="ellipse">
            <a:avLst/>
          </a:prstGeom>
          <a:solidFill>
            <a:srgbClr val="5D6D7E"/>
          </a:solidFill>
          <a:ln w="12700">
            <a:solidFill>
              <a:srgbClr val="5D6D7E"/>
            </a:solidFill>
            <a:prstDash val="solid"/>
          </a:ln>
        </p:spPr>
      </p:sp>
      <p:pic>
        <p:nvPicPr>
          <p:cNvPr id="16" name="Image 2" descr="preencoded.png">    </p:cNvPr>
          <p:cNvPicPr>
            <a:picLocks noChangeAspect="1"/>
          </p:cNvPicPr>
          <p:nvPr/>
        </p:nvPicPr>
        <p:blipFill>
          <a:blip r:embed="rId3"/>
          <a:stretch>
            <a:fillRect/>
          </a:stretch>
        </p:blipFill>
        <p:spPr>
          <a:xfrm>
            <a:off x="8485632" y="1975104"/>
            <a:ext cx="356616" cy="356616"/>
          </a:xfrm>
          <a:prstGeom prst="rect">
            <a:avLst/>
          </a:prstGeom>
        </p:spPr>
      </p:pic>
      <p:sp>
        <p:nvSpPr>
          <p:cNvPr id="17" name="Text 12"/>
          <p:cNvSpPr txBox="1"/>
          <p:nvPr/>
        </p:nvSpPr>
        <p:spPr>
          <a:xfrm>
            <a:off x="9144000" y="1874520"/>
            <a:ext cx="2286000" cy="548640"/>
          </a:xfrm>
          <a:prstGeom prst="rect">
            <a:avLst/>
          </a:prstGeom>
          <a:noFill/>
          <a:ln/>
        </p:spPr>
        <p:txBody>
          <a:bodyPr wrap="square" lIns="0" tIns="0" rIns="0" bIns="0" rtlCol="0" anchor="ctr"/>
          <a:lstStyle/>
          <a:p>
            <a:pPr indent="0" marL="0">
              <a:buNone/>
            </a:pPr>
            <a:r>
              <a:rPr lang="en-US" sz="2200" b="1" dirty="0">
                <a:solidFill>
                  <a:srgbClr val="5D6D7E"/>
                </a:solidFill>
              </a:rPr>
              <a:t>BASSE</a:t>
            </a:r>
            <a:endParaRPr lang="en-US" sz="2200" dirty="0"/>
          </a:p>
        </p:txBody>
      </p:sp>
      <p:sp>
        <p:nvSpPr>
          <p:cNvPr id="18" name="Text 13"/>
          <p:cNvSpPr txBox="1"/>
          <p:nvPr/>
        </p:nvSpPr>
        <p:spPr>
          <a:xfrm>
            <a:off x="8321040" y="2697480"/>
            <a:ext cx="306324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0B2545"/>
                </a:solidFill>
              </a:rPr>
              <a:t>Interface pharmacie</a:t>
            </a:r>
            <a:endParaRPr lang="en-US" sz="1700" dirty="0"/>
          </a:p>
          <a:p>
            <a:pPr marL="342900" indent="-342900">
              <a:spcAft>
                <a:spcPts val="1000"/>
              </a:spcAft>
              <a:buSzPct val="100000"/>
              <a:buChar char="•"/>
            </a:pPr>
            <a:r>
              <a:rPr lang="en-US" sz="1700" dirty="0">
                <a:solidFill>
                  <a:srgbClr val="0B2545"/>
                </a:solidFill>
              </a:rPr>
              <a:t>Préférences utilisateur</a:t>
            </a:r>
            <a:endParaRPr lang="en-US" sz="1700" dirty="0"/>
          </a:p>
          <a:p>
            <a:pPr marL="342900" indent="-342900">
              <a:spcAft>
                <a:spcPts val="1000"/>
              </a:spcAft>
              <a:buSzPct val="100000"/>
              <a:buChar char="•"/>
            </a:pPr>
            <a:r>
              <a:rPr lang="en-US" sz="1700" dirty="0">
                <a:solidFill>
                  <a:srgbClr val="0B2545"/>
                </a:solidFill>
              </a:rPr>
              <a:t>Suivi des notifications</a:t>
            </a:r>
            <a:endParaRPr lang="en-US" sz="1700" dirty="0"/>
          </a:p>
          <a:p>
            <a:pPr marL="342900" indent="-342900">
              <a:spcAft>
                <a:spcPts val="1000"/>
              </a:spcAft>
              <a:buSzPct val="100000"/>
              <a:buChar char="•"/>
            </a:pPr>
            <a:r>
              <a:rPr lang="en-US" sz="1700" dirty="0">
                <a:solidFill>
                  <a:srgbClr val="0B2545"/>
                </a:solidFill>
              </a:rPr>
              <a:t>Données de test anonymes</a:t>
            </a:r>
            <a:endParaRPr lang="en-US" sz="1700" dirty="0"/>
          </a:p>
          <a:p>
            <a:pPr marL="342900" indent="-342900">
              <a:spcAft>
                <a:spcPts val="1000"/>
              </a:spcAft>
              <a:buSzPct val="100000"/>
              <a:buChar char="•"/>
            </a:pPr>
            <a:r>
              <a:rPr lang="en-US" sz="1700" dirty="0">
                <a:solidFill>
                  <a:srgbClr val="0B2545"/>
                </a:solidFill>
              </a:rPr>
              <a:t>Facturation &amp; remboursements</a:t>
            </a:r>
            <a:endParaRPr lang="en-US" sz="1700" dirty="0"/>
          </a:p>
        </p:txBody>
      </p:sp>
      <p:sp>
        <p:nvSpPr>
          <p:cNvPr id="19" name="Text 14"/>
          <p:cNvSpPr txBox="1"/>
          <p:nvPr/>
        </p:nvSpPr>
        <p:spPr>
          <a:xfrm>
            <a:off x="548640" y="5852160"/>
            <a:ext cx="11064240" cy="457200"/>
          </a:xfrm>
          <a:prstGeom prst="rect">
            <a:avLst/>
          </a:prstGeom>
          <a:noFill/>
          <a:ln/>
        </p:spPr>
        <p:txBody>
          <a:bodyPr wrap="square" lIns="0" tIns="0" rIns="0" bIns="0" rtlCol="0" anchor="ctr"/>
          <a:lstStyle/>
          <a:p>
            <a:pPr indent="0" marL="0">
              <a:buNone/>
            </a:pPr>
            <a:r>
              <a:rPr lang="en-US" sz="1700" b="1" dirty="0">
                <a:solidFill>
                  <a:srgbClr val="0F766E"/>
                </a:solidFill>
              </a:rPr>
              <a:t>Règle de conception : </a:t>
            </a:r>
            <a:pPr indent="0" marL="0">
              <a:buNone/>
            </a:pPr>
            <a:r>
              <a:rPr lang="en-US" sz="1700" dirty="0">
                <a:solidFill>
                  <a:srgbClr val="0B2545"/>
                </a:solidFill>
              </a:rPr>
              <a:t>l'effort suit la priorité. Haute = protection et redondance maximales. Basse = simple, et peut attendre.</a:t>
            </a:r>
            <a:endParaRPr lang="en-US" sz="1700" dirty="0"/>
          </a:p>
        </p:txBody>
      </p:sp>
      <p:sp>
        <p:nvSpPr>
          <p:cNvPr id="20" name="Text 15"/>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Architecture générale</a:t>
            </a:r>
            <a:endParaRPr lang="en-US" sz="3200" dirty="0"/>
          </a:p>
        </p:txBody>
      </p:sp>
      <p:pic>
        <p:nvPicPr>
          <p:cNvPr id="3" name="Image 0" descr="/home/claude/medx3/diagrams/exports/annexe_a_architecture.png">    </p:cNvPr>
          <p:cNvPicPr>
            <a:picLocks noChangeAspect="1"/>
          </p:cNvPicPr>
          <p:nvPr/>
        </p:nvPicPr>
        <p:blipFill>
          <a:blip r:embed="rId1"/>
          <a:stretch>
            <a:fillRect/>
          </a:stretch>
        </p:blipFill>
        <p:spPr>
          <a:xfrm>
            <a:off x="2397079" y="1051560"/>
            <a:ext cx="7367363" cy="4434840"/>
          </a:xfrm>
          <a:prstGeom prst="rect">
            <a:avLst/>
          </a:prstGeom>
        </p:spPr>
      </p:pic>
      <p:sp>
        <p:nvSpPr>
          <p:cNvPr id="4" name="Shape 1"/>
          <p:cNvSpPr/>
          <p:nvPr/>
        </p:nvSpPr>
        <p:spPr>
          <a:xfrm>
            <a:off x="548640" y="5577840"/>
            <a:ext cx="502920" cy="502920"/>
          </a:xfrm>
          <a:prstGeom prst="ellipse">
            <a:avLst/>
          </a:prstGeom>
          <a:solidFill>
            <a:srgbClr val="0F766E"/>
          </a:solidFill>
          <a:ln w="12700">
            <a:solidFill>
              <a:srgbClr val="0F766E"/>
            </a:solidFill>
            <a:prstDash val="solid"/>
          </a:ln>
        </p:spPr>
      </p:sp>
      <p:pic>
        <p:nvPicPr>
          <p:cNvPr id="5" name="Image 1" descr="preencoded.png">    </p:cNvPr>
          <p:cNvPicPr>
            <a:picLocks noChangeAspect="1"/>
          </p:cNvPicPr>
          <p:nvPr/>
        </p:nvPicPr>
        <p:blipFill>
          <a:blip r:embed="rId2"/>
          <a:stretch>
            <a:fillRect/>
          </a:stretch>
        </p:blipFill>
        <p:spPr>
          <a:xfrm>
            <a:off x="669341" y="5698541"/>
            <a:ext cx="261518" cy="261518"/>
          </a:xfrm>
          <a:prstGeom prst="rect">
            <a:avLst/>
          </a:prstGeom>
        </p:spPr>
      </p:pic>
      <p:sp>
        <p:nvSpPr>
          <p:cNvPr id="6" name="Text 2"/>
          <p:cNvSpPr txBox="1"/>
          <p:nvPr/>
        </p:nvSpPr>
        <p:spPr>
          <a:xfrm>
            <a:off x="1170432" y="5513832"/>
            <a:ext cx="2103120" cy="310896"/>
          </a:xfrm>
          <a:prstGeom prst="rect">
            <a:avLst/>
          </a:prstGeom>
          <a:noFill/>
          <a:ln/>
        </p:spPr>
        <p:txBody>
          <a:bodyPr wrap="square" lIns="0" tIns="0" rIns="0" bIns="0" rtlCol="0" anchor="ctr"/>
          <a:lstStyle/>
          <a:p>
            <a:pPr indent="0" marL="0">
              <a:buNone/>
            </a:pPr>
            <a:r>
              <a:rPr lang="en-US" sz="1400" b="1" dirty="0">
                <a:solidFill>
                  <a:srgbClr val="0B2545"/>
                </a:solidFill>
              </a:rPr>
              <a:t>AWS Paris</a:t>
            </a:r>
            <a:endParaRPr lang="en-US" sz="1400" dirty="0"/>
          </a:p>
        </p:txBody>
      </p:sp>
      <p:sp>
        <p:nvSpPr>
          <p:cNvPr id="7" name="Text 3"/>
          <p:cNvSpPr txBox="1"/>
          <p:nvPr/>
        </p:nvSpPr>
        <p:spPr>
          <a:xfrm>
            <a:off x="1170432" y="5824728"/>
            <a:ext cx="2103120" cy="640080"/>
          </a:xfrm>
          <a:prstGeom prst="rect">
            <a:avLst/>
          </a:prstGeom>
          <a:noFill/>
          <a:ln/>
        </p:spPr>
        <p:txBody>
          <a:bodyPr wrap="square" lIns="0" tIns="0" rIns="0" bIns="0" rtlCol="0" anchor="t"/>
          <a:lstStyle/>
          <a:p>
            <a:pPr indent="0" marL="0">
              <a:buNone/>
            </a:pPr>
            <a:r>
              <a:rPr lang="en-US" sz="1100" dirty="0">
                <a:solidFill>
                  <a:srgbClr val="5B6770"/>
                </a:solidFill>
              </a:rPr>
              <a:t>certifié HDS ; Francfort en secours</a:t>
            </a:r>
            <a:endParaRPr lang="en-US" sz="1100" dirty="0"/>
          </a:p>
        </p:txBody>
      </p:sp>
      <p:sp>
        <p:nvSpPr>
          <p:cNvPr id="8" name="Shape 4"/>
          <p:cNvSpPr/>
          <p:nvPr/>
        </p:nvSpPr>
        <p:spPr>
          <a:xfrm>
            <a:off x="3364992" y="5577840"/>
            <a:ext cx="502920" cy="502920"/>
          </a:xfrm>
          <a:prstGeom prst="ellipse">
            <a:avLst/>
          </a:prstGeom>
          <a:solidFill>
            <a:srgbClr val="0F766E"/>
          </a:solidFill>
          <a:ln w="12700">
            <a:solidFill>
              <a:srgbClr val="0F766E"/>
            </a:solidFill>
            <a:prstDash val="solid"/>
          </a:ln>
        </p:spPr>
      </p:sp>
      <p:pic>
        <p:nvPicPr>
          <p:cNvPr id="9" name="Image 2" descr="preencoded.png">    </p:cNvPr>
          <p:cNvPicPr>
            <a:picLocks noChangeAspect="1"/>
          </p:cNvPicPr>
          <p:nvPr/>
        </p:nvPicPr>
        <p:blipFill>
          <a:blip r:embed="rId3"/>
          <a:stretch>
            <a:fillRect/>
          </a:stretch>
        </p:blipFill>
        <p:spPr>
          <a:xfrm>
            <a:off x="3485693" y="5698541"/>
            <a:ext cx="261518" cy="261518"/>
          </a:xfrm>
          <a:prstGeom prst="rect">
            <a:avLst/>
          </a:prstGeom>
        </p:spPr>
      </p:pic>
      <p:sp>
        <p:nvSpPr>
          <p:cNvPr id="10" name="Text 5"/>
          <p:cNvSpPr txBox="1"/>
          <p:nvPr/>
        </p:nvSpPr>
        <p:spPr>
          <a:xfrm>
            <a:off x="3986784" y="5513832"/>
            <a:ext cx="2103120" cy="310896"/>
          </a:xfrm>
          <a:prstGeom prst="rect">
            <a:avLst/>
          </a:prstGeom>
          <a:noFill/>
          <a:ln/>
        </p:spPr>
        <p:txBody>
          <a:bodyPr wrap="square" lIns="0" tIns="0" rIns="0" bIns="0" rtlCol="0" anchor="ctr"/>
          <a:lstStyle/>
          <a:p>
            <a:pPr indent="0" marL="0">
              <a:buNone/>
            </a:pPr>
            <a:r>
              <a:rPr lang="en-US" sz="1400" b="1" dirty="0">
                <a:solidFill>
                  <a:srgbClr val="0B2545"/>
                </a:solidFill>
              </a:rPr>
              <a:t>Point d'entrée unique</a:t>
            </a:r>
            <a:endParaRPr lang="en-US" sz="1400" dirty="0"/>
          </a:p>
        </p:txBody>
      </p:sp>
      <p:sp>
        <p:nvSpPr>
          <p:cNvPr id="11" name="Text 6"/>
          <p:cNvSpPr txBox="1"/>
          <p:nvPr/>
        </p:nvSpPr>
        <p:spPr>
          <a:xfrm>
            <a:off x="3986784" y="5824728"/>
            <a:ext cx="2103120" cy="640080"/>
          </a:xfrm>
          <a:prstGeom prst="rect">
            <a:avLst/>
          </a:prstGeom>
          <a:noFill/>
          <a:ln/>
        </p:spPr>
        <p:txBody>
          <a:bodyPr wrap="square" lIns="0" tIns="0" rIns="0" bIns="0" rtlCol="0" anchor="t"/>
          <a:lstStyle/>
          <a:p>
            <a:pPr indent="0" marL="0">
              <a:buNone/>
            </a:pPr>
            <a:r>
              <a:rPr lang="en-US" sz="1100" dirty="0">
                <a:solidFill>
                  <a:srgbClr val="5B6770"/>
                </a:solidFill>
              </a:rPr>
              <a:t>l'API Gateway vérifie chaque connexion (Keycloak, MFA)</a:t>
            </a:r>
            <a:endParaRPr lang="en-US" sz="1100" dirty="0"/>
          </a:p>
        </p:txBody>
      </p:sp>
      <p:sp>
        <p:nvSpPr>
          <p:cNvPr id="12" name="Shape 7"/>
          <p:cNvSpPr/>
          <p:nvPr/>
        </p:nvSpPr>
        <p:spPr>
          <a:xfrm>
            <a:off x="6181344" y="5577840"/>
            <a:ext cx="502920" cy="502920"/>
          </a:xfrm>
          <a:prstGeom prst="ellipse">
            <a:avLst/>
          </a:prstGeom>
          <a:solidFill>
            <a:srgbClr val="0F766E"/>
          </a:solidFill>
          <a:ln w="12700">
            <a:solidFill>
              <a:srgbClr val="0F766E"/>
            </a:solidFill>
            <a:prstDash val="solid"/>
          </a:ln>
        </p:spPr>
      </p:sp>
      <p:pic>
        <p:nvPicPr>
          <p:cNvPr id="13" name="Image 3" descr="preencoded.png">    </p:cNvPr>
          <p:cNvPicPr>
            <a:picLocks noChangeAspect="1"/>
          </p:cNvPicPr>
          <p:nvPr/>
        </p:nvPicPr>
        <p:blipFill>
          <a:blip r:embed="rId4"/>
          <a:stretch>
            <a:fillRect/>
          </a:stretch>
        </p:blipFill>
        <p:spPr>
          <a:xfrm>
            <a:off x="6302045" y="5698541"/>
            <a:ext cx="261518" cy="261518"/>
          </a:xfrm>
          <a:prstGeom prst="rect">
            <a:avLst/>
          </a:prstGeom>
        </p:spPr>
      </p:pic>
      <p:sp>
        <p:nvSpPr>
          <p:cNvPr id="14" name="Text 8"/>
          <p:cNvSpPr txBox="1"/>
          <p:nvPr/>
        </p:nvSpPr>
        <p:spPr>
          <a:xfrm>
            <a:off x="6803136" y="5513832"/>
            <a:ext cx="2103120" cy="310896"/>
          </a:xfrm>
          <a:prstGeom prst="rect">
            <a:avLst/>
          </a:prstGeom>
          <a:noFill/>
          <a:ln/>
        </p:spPr>
        <p:txBody>
          <a:bodyPr wrap="square" lIns="0" tIns="0" rIns="0" bIns="0" rtlCol="0" anchor="ctr"/>
          <a:lstStyle/>
          <a:p>
            <a:pPr indent="0" marL="0">
              <a:buNone/>
            </a:pPr>
            <a:r>
              <a:rPr lang="en-US" sz="1400" b="1" dirty="0">
                <a:solidFill>
                  <a:srgbClr val="0B2545"/>
                </a:solidFill>
              </a:rPr>
              <a:t>8 services</a:t>
            </a:r>
            <a:endParaRPr lang="en-US" sz="1400" dirty="0"/>
          </a:p>
        </p:txBody>
      </p:sp>
      <p:sp>
        <p:nvSpPr>
          <p:cNvPr id="15" name="Text 9"/>
          <p:cNvSpPr txBox="1"/>
          <p:nvPr/>
        </p:nvSpPr>
        <p:spPr>
          <a:xfrm>
            <a:off x="6803136" y="5824728"/>
            <a:ext cx="2103120" cy="640080"/>
          </a:xfrm>
          <a:prstGeom prst="rect">
            <a:avLst/>
          </a:prstGeom>
          <a:noFill/>
          <a:ln/>
        </p:spPr>
        <p:txBody>
          <a:bodyPr wrap="square" lIns="0" tIns="0" rIns="0" bIns="0" rtlCol="0" anchor="t"/>
          <a:lstStyle/>
          <a:p>
            <a:pPr indent="0" marL="0">
              <a:buNone/>
            </a:pPr>
            <a:r>
              <a:rPr lang="en-US" sz="1100" dirty="0">
                <a:solidFill>
                  <a:srgbClr val="5B6770"/>
                </a:solidFill>
              </a:rPr>
              <a:t>un par domaine du sujet, reliés par un bus d'événements</a:t>
            </a:r>
            <a:endParaRPr lang="en-US" sz="1100" dirty="0"/>
          </a:p>
        </p:txBody>
      </p:sp>
      <p:sp>
        <p:nvSpPr>
          <p:cNvPr id="16" name="Shape 10"/>
          <p:cNvSpPr/>
          <p:nvPr/>
        </p:nvSpPr>
        <p:spPr>
          <a:xfrm>
            <a:off x="8997696" y="5577840"/>
            <a:ext cx="502920" cy="502920"/>
          </a:xfrm>
          <a:prstGeom prst="ellipse">
            <a:avLst/>
          </a:prstGeom>
          <a:solidFill>
            <a:srgbClr val="0F766E"/>
          </a:solidFill>
          <a:ln w="12700">
            <a:solidFill>
              <a:srgbClr val="0F766E"/>
            </a:solidFill>
            <a:prstDash val="solid"/>
          </a:ln>
        </p:spPr>
      </p:sp>
      <p:pic>
        <p:nvPicPr>
          <p:cNvPr id="17" name="Image 4" descr="preencoded.png">    </p:cNvPr>
          <p:cNvPicPr>
            <a:picLocks noChangeAspect="1"/>
          </p:cNvPicPr>
          <p:nvPr/>
        </p:nvPicPr>
        <p:blipFill>
          <a:blip r:embed="rId5"/>
          <a:stretch>
            <a:fillRect/>
          </a:stretch>
        </p:blipFill>
        <p:spPr>
          <a:xfrm>
            <a:off x="9118397" y="5698541"/>
            <a:ext cx="261518" cy="261518"/>
          </a:xfrm>
          <a:prstGeom prst="rect">
            <a:avLst/>
          </a:prstGeom>
        </p:spPr>
      </p:pic>
      <p:sp>
        <p:nvSpPr>
          <p:cNvPr id="18" name="Text 11"/>
          <p:cNvSpPr txBox="1"/>
          <p:nvPr/>
        </p:nvSpPr>
        <p:spPr>
          <a:xfrm>
            <a:off x="9619488" y="5513832"/>
            <a:ext cx="2103120" cy="310896"/>
          </a:xfrm>
          <a:prstGeom prst="rect">
            <a:avLst/>
          </a:prstGeom>
          <a:noFill/>
          <a:ln/>
        </p:spPr>
        <p:txBody>
          <a:bodyPr wrap="square" lIns="0" tIns="0" rIns="0" bIns="0" rtlCol="0" anchor="ctr"/>
          <a:lstStyle/>
          <a:p>
            <a:pPr indent="0" marL="0">
              <a:buNone/>
            </a:pPr>
            <a:r>
              <a:rPr lang="en-US" sz="1400" b="1" dirty="0">
                <a:solidFill>
                  <a:srgbClr val="0B2545"/>
                </a:solidFill>
              </a:rPr>
              <a:t>Données chiffrées</a:t>
            </a:r>
            <a:endParaRPr lang="en-US" sz="1400" dirty="0"/>
          </a:p>
        </p:txBody>
      </p:sp>
      <p:sp>
        <p:nvSpPr>
          <p:cNvPr id="19" name="Text 12"/>
          <p:cNvSpPr txBox="1"/>
          <p:nvPr/>
        </p:nvSpPr>
        <p:spPr>
          <a:xfrm>
            <a:off x="9619488" y="5824728"/>
            <a:ext cx="2103120" cy="640080"/>
          </a:xfrm>
          <a:prstGeom prst="rect">
            <a:avLst/>
          </a:prstGeom>
          <a:noFill/>
          <a:ln/>
        </p:spPr>
        <p:txBody>
          <a:bodyPr wrap="square" lIns="0" tIns="0" rIns="0" bIns="0" rtlCol="0" anchor="t"/>
          <a:lstStyle/>
          <a:p>
            <a:pPr indent="0" marL="0">
              <a:buNone/>
            </a:pPr>
            <a:r>
              <a:rPr lang="en-US" sz="1100" dirty="0">
                <a:solidFill>
                  <a:srgbClr val="5B6770"/>
                </a:solidFill>
              </a:rPr>
              <a:t>PostgreSQL, S3, Redis — rien n'est écrasé</a:t>
            </a:r>
            <a:endParaRPr lang="en-US" sz="1100" dirty="0"/>
          </a:p>
        </p:txBody>
      </p:sp>
      <p:sp>
        <p:nvSpPr>
          <p:cNvPr id="20" name="Text 13"/>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Huit services, un bus d'événements</a:t>
            </a:r>
            <a:endParaRPr lang="en-US" sz="3200" dirty="0"/>
          </a:p>
        </p:txBody>
      </p:sp>
      <p:pic>
        <p:nvPicPr>
          <p:cNvPr id="3" name="Image 0" descr="/home/claude/medx3/diagrams/exports/annexe_b_services.png">    </p:cNvPr>
          <p:cNvPicPr>
            <a:picLocks noChangeAspect="1"/>
          </p:cNvPicPr>
          <p:nvPr/>
        </p:nvPicPr>
        <p:blipFill>
          <a:blip r:embed="rId1"/>
          <a:stretch>
            <a:fillRect/>
          </a:stretch>
        </p:blipFill>
        <p:spPr>
          <a:xfrm>
            <a:off x="365760" y="1697303"/>
            <a:ext cx="8138160" cy="4149193"/>
          </a:xfrm>
          <a:prstGeom prst="rect">
            <a:avLst/>
          </a:prstGeom>
        </p:spPr>
      </p:pic>
      <p:sp>
        <p:nvSpPr>
          <p:cNvPr id="4" name="Shape 1"/>
          <p:cNvSpPr/>
          <p:nvPr/>
        </p:nvSpPr>
        <p:spPr>
          <a:xfrm>
            <a:off x="8732520" y="1234440"/>
            <a:ext cx="3108960" cy="1600200"/>
          </a:xfrm>
          <a:prstGeom prst="rect">
            <a:avLst/>
          </a:prstGeom>
          <a:solidFill>
            <a:srgbClr val="F4ECF7"/>
          </a:solidFill>
          <a:ln w="12700">
            <a:solidFill>
              <a:srgbClr val="6C3483"/>
            </a:solidFill>
            <a:prstDash val="solid"/>
          </a:ln>
        </p:spPr>
      </p:sp>
      <p:sp>
        <p:nvSpPr>
          <p:cNvPr id="5" name="Text 2"/>
          <p:cNvSpPr txBox="1"/>
          <p:nvPr/>
        </p:nvSpPr>
        <p:spPr>
          <a:xfrm>
            <a:off x="8869680" y="1344168"/>
            <a:ext cx="2834640" cy="411480"/>
          </a:xfrm>
          <a:prstGeom prst="rect">
            <a:avLst/>
          </a:prstGeom>
          <a:noFill/>
          <a:ln/>
        </p:spPr>
        <p:txBody>
          <a:bodyPr wrap="square" lIns="0" tIns="0" rIns="0" bIns="0" rtlCol="0" anchor="ctr"/>
          <a:lstStyle/>
          <a:p>
            <a:pPr indent="0" marL="0">
              <a:buNone/>
            </a:pPr>
            <a:r>
              <a:rPr lang="en-US" sz="1500" b="1" dirty="0">
                <a:solidFill>
                  <a:srgbClr val="6C3483"/>
                </a:solidFill>
              </a:rPr>
              <a:t>Un service par domaine</a:t>
            </a:r>
            <a:endParaRPr lang="en-US" sz="1500" dirty="0"/>
          </a:p>
        </p:txBody>
      </p:sp>
      <p:sp>
        <p:nvSpPr>
          <p:cNvPr id="6" name="Text 3"/>
          <p:cNvSpPr txBox="1"/>
          <p:nvPr/>
        </p:nvSpPr>
        <p:spPr>
          <a:xfrm>
            <a:off x="8869680" y="1783080"/>
            <a:ext cx="2834640" cy="1005840"/>
          </a:xfrm>
          <a:prstGeom prst="rect">
            <a:avLst/>
          </a:prstGeom>
          <a:noFill/>
          <a:ln/>
        </p:spPr>
        <p:txBody>
          <a:bodyPr wrap="square" lIns="0" tIns="0" rIns="0" bIns="0" rtlCol="0" anchor="t"/>
          <a:lstStyle/>
          <a:p>
            <a:pPr indent="0" marL="0">
              <a:buNone/>
            </a:pPr>
            <a:r>
              <a:rPr lang="en-US" sz="1300" dirty="0">
                <a:solidFill>
                  <a:srgbClr val="0B2545"/>
                </a:solidFill>
              </a:rPr>
              <a:t>Repris directement du sujet. Chacun possède ses données.</a:t>
            </a:r>
            <a:endParaRPr lang="en-US" sz="1300" dirty="0"/>
          </a:p>
        </p:txBody>
      </p:sp>
      <p:sp>
        <p:nvSpPr>
          <p:cNvPr id="7" name="Shape 4"/>
          <p:cNvSpPr/>
          <p:nvPr/>
        </p:nvSpPr>
        <p:spPr>
          <a:xfrm>
            <a:off x="8732520" y="3017520"/>
            <a:ext cx="3108960" cy="1600200"/>
          </a:xfrm>
          <a:prstGeom prst="rect">
            <a:avLst/>
          </a:prstGeom>
          <a:solidFill>
            <a:srgbClr val="F4ECF7"/>
          </a:solidFill>
          <a:ln w="12700">
            <a:solidFill>
              <a:srgbClr val="6C3483"/>
            </a:solidFill>
            <a:prstDash val="solid"/>
          </a:ln>
        </p:spPr>
      </p:sp>
      <p:sp>
        <p:nvSpPr>
          <p:cNvPr id="8" name="Text 5"/>
          <p:cNvSpPr txBox="1"/>
          <p:nvPr/>
        </p:nvSpPr>
        <p:spPr>
          <a:xfrm>
            <a:off x="8869680" y="3127248"/>
            <a:ext cx="2834640" cy="411480"/>
          </a:xfrm>
          <a:prstGeom prst="rect">
            <a:avLst/>
          </a:prstGeom>
          <a:noFill/>
          <a:ln/>
        </p:spPr>
        <p:txBody>
          <a:bodyPr wrap="square" lIns="0" tIns="0" rIns="0" bIns="0" rtlCol="0" anchor="ctr"/>
          <a:lstStyle/>
          <a:p>
            <a:pPr indent="0" marL="0">
              <a:buNone/>
            </a:pPr>
            <a:r>
              <a:rPr lang="en-US" sz="1500" b="1" dirty="0">
                <a:solidFill>
                  <a:srgbClr val="6C3483"/>
                </a:solidFill>
              </a:rPr>
              <a:t>Seulement 4 appels directs</a:t>
            </a:r>
            <a:endParaRPr lang="en-US" sz="1500" dirty="0"/>
          </a:p>
        </p:txBody>
      </p:sp>
      <p:sp>
        <p:nvSpPr>
          <p:cNvPr id="9" name="Text 6"/>
          <p:cNvSpPr txBox="1"/>
          <p:nvPr/>
        </p:nvSpPr>
        <p:spPr>
          <a:xfrm>
            <a:off x="8869680" y="3566160"/>
            <a:ext cx="2834640" cy="1005840"/>
          </a:xfrm>
          <a:prstGeom prst="rect">
            <a:avLst/>
          </a:prstGeom>
          <a:noFill/>
          <a:ln/>
        </p:spPr>
        <p:txBody>
          <a:bodyPr wrap="square" lIns="0" tIns="0" rIns="0" bIns="0" rtlCol="0" anchor="t"/>
          <a:lstStyle/>
          <a:p>
            <a:pPr indent="0" marL="0">
              <a:buNone/>
            </a:pPr>
            <a:r>
              <a:rPr lang="en-US" sz="1300" dirty="0">
                <a:solidFill>
                  <a:srgbClr val="0B2545"/>
                </a:solidFill>
              </a:rPr>
              <a:t>Tous vers un service plus critique : un souci de facturation ne bloque jamais les soins.</a:t>
            </a:r>
            <a:endParaRPr lang="en-US" sz="1300" dirty="0"/>
          </a:p>
        </p:txBody>
      </p:sp>
      <p:sp>
        <p:nvSpPr>
          <p:cNvPr id="10" name="Shape 7"/>
          <p:cNvSpPr/>
          <p:nvPr/>
        </p:nvSpPr>
        <p:spPr>
          <a:xfrm>
            <a:off x="8732520" y="4800600"/>
            <a:ext cx="3108960" cy="1600200"/>
          </a:xfrm>
          <a:prstGeom prst="rect">
            <a:avLst/>
          </a:prstGeom>
          <a:solidFill>
            <a:srgbClr val="F4ECF7"/>
          </a:solidFill>
          <a:ln w="12700">
            <a:solidFill>
              <a:srgbClr val="6C3483"/>
            </a:solidFill>
            <a:prstDash val="solid"/>
          </a:ln>
        </p:spPr>
      </p:sp>
      <p:sp>
        <p:nvSpPr>
          <p:cNvPr id="11" name="Text 8"/>
          <p:cNvSpPr txBox="1"/>
          <p:nvPr/>
        </p:nvSpPr>
        <p:spPr>
          <a:xfrm>
            <a:off x="8869680" y="4910328"/>
            <a:ext cx="2834640" cy="411480"/>
          </a:xfrm>
          <a:prstGeom prst="rect">
            <a:avLst/>
          </a:prstGeom>
          <a:noFill/>
          <a:ln/>
        </p:spPr>
        <p:txBody>
          <a:bodyPr wrap="square" lIns="0" tIns="0" rIns="0" bIns="0" rtlCol="0" anchor="ctr"/>
          <a:lstStyle/>
          <a:p>
            <a:pPr indent="0" marL="0">
              <a:buNone/>
            </a:pPr>
            <a:r>
              <a:rPr lang="en-US" sz="1500" b="1" dirty="0">
                <a:solidFill>
                  <a:srgbClr val="6C3483"/>
                </a:solidFill>
              </a:rPr>
              <a:t>Le reste via des événements</a:t>
            </a:r>
            <a:endParaRPr lang="en-US" sz="1500" dirty="0"/>
          </a:p>
        </p:txBody>
      </p:sp>
      <p:sp>
        <p:nvSpPr>
          <p:cNvPr id="12" name="Text 9"/>
          <p:cNvSpPr txBox="1"/>
          <p:nvPr/>
        </p:nvSpPr>
        <p:spPr>
          <a:xfrm>
            <a:off x="8869680" y="5349240"/>
            <a:ext cx="2834640" cy="1005840"/>
          </a:xfrm>
          <a:prstGeom prst="rect">
            <a:avLst/>
          </a:prstGeom>
          <a:noFill/>
          <a:ln/>
        </p:spPr>
        <p:txBody>
          <a:bodyPr wrap="square" lIns="0" tIns="0" rIns="0" bIns="0" rtlCol="0" anchor="t"/>
          <a:lstStyle/>
          <a:p>
            <a:pPr indent="0" marL="0">
              <a:buNone/>
            </a:pPr>
            <a:r>
              <a:rPr lang="en-US" sz="1300" dirty="0">
                <a:solidFill>
                  <a:srgbClr val="0B2545"/>
                </a:solidFill>
              </a:rPr>
              <a:t>« rdv.reserve » → notifications, salle vidéo et facturation réagissent seuls.</a:t>
            </a:r>
            <a:endParaRPr lang="en-US" sz="1300" dirty="0"/>
          </a:p>
        </p:txBody>
      </p:sp>
      <p:sp>
        <p:nvSpPr>
          <p:cNvPr id="13" name="Text 10"/>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Accès d'urgence en moins d'une seconde</a:t>
            </a:r>
            <a:endParaRPr lang="en-US" sz="3200" dirty="0"/>
          </a:p>
        </p:txBody>
      </p:sp>
      <p:sp>
        <p:nvSpPr>
          <p:cNvPr id="3" name="Text 1"/>
          <p:cNvSpPr txBox="1"/>
          <p:nvPr/>
        </p:nvSpPr>
        <p:spPr>
          <a:xfrm>
            <a:off x="548640" y="987552"/>
            <a:ext cx="11094415"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Des données verrouillées, mais disponibles quand une vie en dépend</a:t>
            </a:r>
            <a:endParaRPr lang="en-US" sz="1500" dirty="0"/>
          </a:p>
        </p:txBody>
      </p:sp>
      <p:pic>
        <p:nvPicPr>
          <p:cNvPr id="4" name="Image 0" descr="/home/claude/medx3/diagrams/exports/annexe_d_emergency_access.png">    </p:cNvPr>
          <p:cNvPicPr>
            <a:picLocks noChangeAspect="1"/>
          </p:cNvPicPr>
          <p:nvPr/>
        </p:nvPicPr>
        <p:blipFill>
          <a:blip r:embed="rId1"/>
          <a:stretch>
            <a:fillRect/>
          </a:stretch>
        </p:blipFill>
        <p:spPr>
          <a:xfrm>
            <a:off x="365760" y="1807825"/>
            <a:ext cx="7315200" cy="4339630"/>
          </a:xfrm>
          <a:prstGeom prst="rect">
            <a:avLst/>
          </a:prstGeom>
        </p:spPr>
      </p:pic>
      <p:sp>
        <p:nvSpPr>
          <p:cNvPr id="5" name="Shape 2"/>
          <p:cNvSpPr/>
          <p:nvPr/>
        </p:nvSpPr>
        <p:spPr>
          <a:xfrm>
            <a:off x="7909560" y="1554480"/>
            <a:ext cx="3886200" cy="1078992"/>
          </a:xfrm>
          <a:prstGeom prst="rect">
            <a:avLst/>
          </a:prstGeom>
          <a:solidFill>
            <a:srgbClr val="FDEDEC"/>
          </a:solidFill>
          <a:ln w="12700">
            <a:solidFill>
              <a:srgbClr val="C0392B"/>
            </a:solidFill>
            <a:prstDash val="solid"/>
          </a:ln>
        </p:spPr>
      </p:sp>
      <p:sp>
        <p:nvSpPr>
          <p:cNvPr id="6" name="Shape 3"/>
          <p:cNvSpPr/>
          <p:nvPr/>
        </p:nvSpPr>
        <p:spPr>
          <a:xfrm>
            <a:off x="8046720" y="1801368"/>
            <a:ext cx="566928" cy="566928"/>
          </a:xfrm>
          <a:prstGeom prst="ellipse">
            <a:avLst/>
          </a:prstGeom>
          <a:solidFill>
            <a:srgbClr val="C0392B"/>
          </a:solidFill>
          <a:ln w="12700">
            <a:solidFill>
              <a:srgbClr val="C0392B"/>
            </a:solidFill>
            <a:prstDash val="solid"/>
          </a:ln>
        </p:spPr>
      </p:sp>
      <p:pic>
        <p:nvPicPr>
          <p:cNvPr id="7" name="Image 1" descr="preencoded.png">    </p:cNvPr>
          <p:cNvPicPr>
            <a:picLocks noChangeAspect="1"/>
          </p:cNvPicPr>
          <p:nvPr/>
        </p:nvPicPr>
        <p:blipFill>
          <a:blip r:embed="rId2"/>
          <a:stretch>
            <a:fillRect/>
          </a:stretch>
        </p:blipFill>
        <p:spPr>
          <a:xfrm>
            <a:off x="8182783" y="1937431"/>
            <a:ext cx="294803" cy="294803"/>
          </a:xfrm>
          <a:prstGeom prst="rect">
            <a:avLst/>
          </a:prstGeom>
        </p:spPr>
      </p:pic>
      <p:sp>
        <p:nvSpPr>
          <p:cNvPr id="8" name="Text 4"/>
          <p:cNvSpPr txBox="1"/>
          <p:nvPr/>
        </p:nvSpPr>
        <p:spPr>
          <a:xfrm>
            <a:off x="8778240" y="1645920"/>
            <a:ext cx="2926080" cy="347472"/>
          </a:xfrm>
          <a:prstGeom prst="rect">
            <a:avLst/>
          </a:prstGeom>
          <a:noFill/>
          <a:ln/>
        </p:spPr>
        <p:txBody>
          <a:bodyPr wrap="square" lIns="0" tIns="0" rIns="0" bIns="0" rtlCol="0" anchor="ctr"/>
          <a:lstStyle/>
          <a:p>
            <a:pPr indent="0" marL="0">
              <a:buNone/>
            </a:pPr>
            <a:r>
              <a:rPr lang="en-US" sz="1500" b="1" dirty="0">
                <a:solidFill>
                  <a:srgbClr val="C0392B"/>
                </a:solidFill>
              </a:rPr>
              <a:t>Préparé à l'avance</a:t>
            </a:r>
            <a:endParaRPr lang="en-US" sz="1500" dirty="0"/>
          </a:p>
        </p:txBody>
      </p:sp>
      <p:sp>
        <p:nvSpPr>
          <p:cNvPr id="9" name="Text 5"/>
          <p:cNvSpPr txBox="1"/>
          <p:nvPr/>
        </p:nvSpPr>
        <p:spPr>
          <a:xfrm>
            <a:off x="8778240" y="1984248"/>
            <a:ext cx="2926080" cy="594360"/>
          </a:xfrm>
          <a:prstGeom prst="rect">
            <a:avLst/>
          </a:prstGeom>
          <a:noFill/>
          <a:ln/>
        </p:spPr>
        <p:txBody>
          <a:bodyPr wrap="square" lIns="0" tIns="0" rIns="0" bIns="0" rtlCol="0" anchor="t"/>
          <a:lstStyle/>
          <a:p>
            <a:pPr indent="0" marL="0">
              <a:buNone/>
            </a:pPr>
            <a:r>
              <a:rPr lang="en-US" sz="1250" dirty="0">
                <a:solidFill>
                  <a:srgbClr val="0B2545"/>
                </a:solidFill>
              </a:rPr>
              <a:t>Résumé d'urgence tenu à jour et en cache : lecture instantanée</a:t>
            </a:r>
            <a:endParaRPr lang="en-US" sz="1250" dirty="0"/>
          </a:p>
        </p:txBody>
      </p:sp>
      <p:sp>
        <p:nvSpPr>
          <p:cNvPr id="10" name="Shape 6"/>
          <p:cNvSpPr/>
          <p:nvPr/>
        </p:nvSpPr>
        <p:spPr>
          <a:xfrm>
            <a:off x="7909560" y="2770632"/>
            <a:ext cx="3886200" cy="1078992"/>
          </a:xfrm>
          <a:prstGeom prst="rect">
            <a:avLst/>
          </a:prstGeom>
          <a:solidFill>
            <a:srgbClr val="FDEDEC"/>
          </a:solidFill>
          <a:ln w="12700">
            <a:solidFill>
              <a:srgbClr val="C0392B"/>
            </a:solidFill>
            <a:prstDash val="solid"/>
          </a:ln>
        </p:spPr>
      </p:sp>
      <p:sp>
        <p:nvSpPr>
          <p:cNvPr id="11" name="Shape 7"/>
          <p:cNvSpPr/>
          <p:nvPr/>
        </p:nvSpPr>
        <p:spPr>
          <a:xfrm>
            <a:off x="8046720" y="3017520"/>
            <a:ext cx="566928" cy="566928"/>
          </a:xfrm>
          <a:prstGeom prst="ellipse">
            <a:avLst/>
          </a:prstGeom>
          <a:solidFill>
            <a:srgbClr val="C0392B"/>
          </a:solidFill>
          <a:ln w="12700">
            <a:solidFill>
              <a:srgbClr val="C0392B"/>
            </a:solidFill>
            <a:prstDash val="solid"/>
          </a:ln>
        </p:spPr>
      </p:sp>
      <p:pic>
        <p:nvPicPr>
          <p:cNvPr id="12" name="Image 2" descr="preencoded.png">    </p:cNvPr>
          <p:cNvPicPr>
            <a:picLocks noChangeAspect="1"/>
          </p:cNvPicPr>
          <p:nvPr/>
        </p:nvPicPr>
        <p:blipFill>
          <a:blip r:embed="rId3"/>
          <a:stretch>
            <a:fillRect/>
          </a:stretch>
        </p:blipFill>
        <p:spPr>
          <a:xfrm>
            <a:off x="8182783" y="3153583"/>
            <a:ext cx="294803" cy="294803"/>
          </a:xfrm>
          <a:prstGeom prst="rect">
            <a:avLst/>
          </a:prstGeom>
        </p:spPr>
      </p:pic>
      <p:sp>
        <p:nvSpPr>
          <p:cNvPr id="13" name="Text 8"/>
          <p:cNvSpPr txBox="1"/>
          <p:nvPr/>
        </p:nvSpPr>
        <p:spPr>
          <a:xfrm>
            <a:off x="8778240" y="2862072"/>
            <a:ext cx="2926080" cy="347472"/>
          </a:xfrm>
          <a:prstGeom prst="rect">
            <a:avLst/>
          </a:prstGeom>
          <a:noFill/>
          <a:ln/>
        </p:spPr>
        <p:txBody>
          <a:bodyPr wrap="square" lIns="0" tIns="0" rIns="0" bIns="0" rtlCol="0" anchor="ctr"/>
          <a:lstStyle/>
          <a:p>
            <a:pPr indent="0" marL="0">
              <a:buNone/>
            </a:pPr>
            <a:r>
              <a:rPr lang="en-US" sz="1500" b="1" dirty="0">
                <a:solidFill>
                  <a:srgbClr val="C0392B"/>
                </a:solidFill>
              </a:rPr>
              <a:t>Tracer d'abord</a:t>
            </a:r>
            <a:endParaRPr lang="en-US" sz="1500" dirty="0"/>
          </a:p>
        </p:txBody>
      </p:sp>
      <p:sp>
        <p:nvSpPr>
          <p:cNvPr id="14" name="Text 9"/>
          <p:cNvSpPr txBox="1"/>
          <p:nvPr/>
        </p:nvSpPr>
        <p:spPr>
          <a:xfrm>
            <a:off x="8778240" y="3200400"/>
            <a:ext cx="2926080" cy="594360"/>
          </a:xfrm>
          <a:prstGeom prst="rect">
            <a:avLst/>
          </a:prstGeom>
          <a:noFill/>
          <a:ln/>
        </p:spPr>
        <p:txBody>
          <a:bodyPr wrap="square" lIns="0" tIns="0" rIns="0" bIns="0" rtlCol="0" anchor="t"/>
          <a:lstStyle/>
          <a:p>
            <a:pPr indent="0" marL="0">
              <a:buNone/>
            </a:pPr>
            <a:r>
              <a:rPr lang="en-US" sz="1250" dirty="0">
                <a:solidFill>
                  <a:srgbClr val="0B2545"/>
                </a:solidFill>
              </a:rPr>
              <a:t>Pas d'entrée au journal → pas de données affichées</a:t>
            </a:r>
            <a:endParaRPr lang="en-US" sz="1250" dirty="0"/>
          </a:p>
        </p:txBody>
      </p:sp>
      <p:sp>
        <p:nvSpPr>
          <p:cNvPr id="15" name="Shape 10"/>
          <p:cNvSpPr/>
          <p:nvPr/>
        </p:nvSpPr>
        <p:spPr>
          <a:xfrm>
            <a:off x="7909560" y="3986784"/>
            <a:ext cx="3886200" cy="1078992"/>
          </a:xfrm>
          <a:prstGeom prst="rect">
            <a:avLst/>
          </a:prstGeom>
          <a:solidFill>
            <a:srgbClr val="FDEDEC"/>
          </a:solidFill>
          <a:ln w="12700">
            <a:solidFill>
              <a:srgbClr val="C0392B"/>
            </a:solidFill>
            <a:prstDash val="solid"/>
          </a:ln>
        </p:spPr>
      </p:sp>
      <p:sp>
        <p:nvSpPr>
          <p:cNvPr id="16" name="Shape 11"/>
          <p:cNvSpPr/>
          <p:nvPr/>
        </p:nvSpPr>
        <p:spPr>
          <a:xfrm>
            <a:off x="8046720" y="4233672"/>
            <a:ext cx="566928" cy="566928"/>
          </a:xfrm>
          <a:prstGeom prst="ellipse">
            <a:avLst/>
          </a:prstGeom>
          <a:solidFill>
            <a:srgbClr val="C0392B"/>
          </a:solidFill>
          <a:ln w="12700">
            <a:solidFill>
              <a:srgbClr val="C0392B"/>
            </a:solidFill>
            <a:prstDash val="solid"/>
          </a:ln>
        </p:spPr>
      </p:sp>
      <p:pic>
        <p:nvPicPr>
          <p:cNvPr id="17" name="Image 3" descr="preencoded.png">    </p:cNvPr>
          <p:cNvPicPr>
            <a:picLocks noChangeAspect="1"/>
          </p:cNvPicPr>
          <p:nvPr/>
        </p:nvPicPr>
        <p:blipFill>
          <a:blip r:embed="rId4"/>
          <a:stretch>
            <a:fillRect/>
          </a:stretch>
        </p:blipFill>
        <p:spPr>
          <a:xfrm>
            <a:off x="8182783" y="4369735"/>
            <a:ext cx="294803" cy="294803"/>
          </a:xfrm>
          <a:prstGeom prst="rect">
            <a:avLst/>
          </a:prstGeom>
        </p:spPr>
      </p:pic>
      <p:sp>
        <p:nvSpPr>
          <p:cNvPr id="18" name="Text 12"/>
          <p:cNvSpPr txBox="1"/>
          <p:nvPr/>
        </p:nvSpPr>
        <p:spPr>
          <a:xfrm>
            <a:off x="8778240" y="4078224"/>
            <a:ext cx="2926080" cy="347472"/>
          </a:xfrm>
          <a:prstGeom prst="rect">
            <a:avLst/>
          </a:prstGeom>
          <a:noFill/>
          <a:ln/>
        </p:spPr>
        <p:txBody>
          <a:bodyPr wrap="square" lIns="0" tIns="0" rIns="0" bIns="0" rtlCol="0" anchor="ctr"/>
          <a:lstStyle/>
          <a:p>
            <a:pPr indent="0" marL="0">
              <a:buNone/>
            </a:pPr>
            <a:r>
              <a:rPr lang="en-US" sz="1500" b="1" dirty="0">
                <a:solidFill>
                  <a:srgbClr val="C0392B"/>
                </a:solidFill>
              </a:rPr>
              <a:t>Limité</a:t>
            </a:r>
            <a:endParaRPr lang="en-US" sz="1500" dirty="0"/>
          </a:p>
        </p:txBody>
      </p:sp>
      <p:sp>
        <p:nvSpPr>
          <p:cNvPr id="19" name="Text 13"/>
          <p:cNvSpPr txBox="1"/>
          <p:nvPr/>
        </p:nvSpPr>
        <p:spPr>
          <a:xfrm>
            <a:off x="8778240" y="4416552"/>
            <a:ext cx="2926080" cy="594360"/>
          </a:xfrm>
          <a:prstGeom prst="rect">
            <a:avLst/>
          </a:prstGeom>
          <a:noFill/>
          <a:ln/>
        </p:spPr>
        <p:txBody>
          <a:bodyPr wrap="square" lIns="0" tIns="0" rIns="0" bIns="0" rtlCol="0" anchor="t"/>
          <a:lstStyle/>
          <a:p>
            <a:pPr indent="0" marL="0">
              <a:buNone/>
            </a:pPr>
            <a:r>
              <a:rPr lang="en-US" sz="1250" dirty="0">
                <a:solidFill>
                  <a:srgbClr val="0B2545"/>
                </a:solidFill>
              </a:rPr>
              <a:t>Résumé seul, lecture seule, valable 60 minutes</a:t>
            </a:r>
            <a:endParaRPr lang="en-US" sz="1250" dirty="0"/>
          </a:p>
        </p:txBody>
      </p:sp>
      <p:sp>
        <p:nvSpPr>
          <p:cNvPr id="20" name="Shape 14"/>
          <p:cNvSpPr/>
          <p:nvPr/>
        </p:nvSpPr>
        <p:spPr>
          <a:xfrm>
            <a:off x="7909560" y="5202936"/>
            <a:ext cx="3886200" cy="1078992"/>
          </a:xfrm>
          <a:prstGeom prst="rect">
            <a:avLst/>
          </a:prstGeom>
          <a:solidFill>
            <a:srgbClr val="FDEDEC"/>
          </a:solidFill>
          <a:ln w="12700">
            <a:solidFill>
              <a:srgbClr val="C0392B"/>
            </a:solidFill>
            <a:prstDash val="solid"/>
          </a:ln>
        </p:spPr>
      </p:sp>
      <p:sp>
        <p:nvSpPr>
          <p:cNvPr id="21" name="Shape 15"/>
          <p:cNvSpPr/>
          <p:nvPr/>
        </p:nvSpPr>
        <p:spPr>
          <a:xfrm>
            <a:off x="8046720" y="5449824"/>
            <a:ext cx="566928" cy="566928"/>
          </a:xfrm>
          <a:prstGeom prst="ellipse">
            <a:avLst/>
          </a:prstGeom>
          <a:solidFill>
            <a:srgbClr val="C0392B"/>
          </a:solidFill>
          <a:ln w="12700">
            <a:solidFill>
              <a:srgbClr val="C0392B"/>
            </a:solidFill>
            <a:prstDash val="solid"/>
          </a:ln>
        </p:spPr>
      </p:sp>
      <p:pic>
        <p:nvPicPr>
          <p:cNvPr id="22" name="Image 4" descr="preencoded.png">    </p:cNvPr>
          <p:cNvPicPr>
            <a:picLocks noChangeAspect="1"/>
          </p:cNvPicPr>
          <p:nvPr/>
        </p:nvPicPr>
        <p:blipFill>
          <a:blip r:embed="rId5"/>
          <a:stretch>
            <a:fillRect/>
          </a:stretch>
        </p:blipFill>
        <p:spPr>
          <a:xfrm>
            <a:off x="8182783" y="5585887"/>
            <a:ext cx="294803" cy="294803"/>
          </a:xfrm>
          <a:prstGeom prst="rect">
            <a:avLst/>
          </a:prstGeom>
        </p:spPr>
      </p:pic>
      <p:sp>
        <p:nvSpPr>
          <p:cNvPr id="23" name="Text 16"/>
          <p:cNvSpPr txBox="1"/>
          <p:nvPr/>
        </p:nvSpPr>
        <p:spPr>
          <a:xfrm>
            <a:off x="8778240" y="5294376"/>
            <a:ext cx="2926080" cy="347472"/>
          </a:xfrm>
          <a:prstGeom prst="rect">
            <a:avLst/>
          </a:prstGeom>
          <a:noFill/>
          <a:ln/>
        </p:spPr>
        <p:txBody>
          <a:bodyPr wrap="square" lIns="0" tIns="0" rIns="0" bIns="0" rtlCol="0" anchor="ctr"/>
          <a:lstStyle/>
          <a:p>
            <a:pPr indent="0" marL="0">
              <a:buNone/>
            </a:pPr>
            <a:r>
              <a:rPr lang="en-US" sz="1500" b="1" dirty="0">
                <a:solidFill>
                  <a:srgbClr val="C0392B"/>
                </a:solidFill>
              </a:rPr>
              <a:t>Transparent &amp; contrôlé</a:t>
            </a:r>
            <a:endParaRPr lang="en-US" sz="1500" dirty="0"/>
          </a:p>
        </p:txBody>
      </p:sp>
      <p:sp>
        <p:nvSpPr>
          <p:cNvPr id="24" name="Text 17"/>
          <p:cNvSpPr txBox="1"/>
          <p:nvPr/>
        </p:nvSpPr>
        <p:spPr>
          <a:xfrm>
            <a:off x="8778240" y="5632704"/>
            <a:ext cx="2926080" cy="594360"/>
          </a:xfrm>
          <a:prstGeom prst="rect">
            <a:avLst/>
          </a:prstGeom>
          <a:noFill/>
          <a:ln/>
        </p:spPr>
        <p:txBody>
          <a:bodyPr wrap="square" lIns="0" tIns="0" rIns="0" bIns="0" rtlCol="0" anchor="t"/>
          <a:lstStyle/>
          <a:p>
            <a:pPr indent="0" marL="0">
              <a:buNone/>
            </a:pPr>
            <a:r>
              <a:rPr lang="en-US" sz="1250" dirty="0">
                <a:solidFill>
                  <a:srgbClr val="0B2545"/>
                </a:solidFill>
              </a:rPr>
              <a:t>Patient informé ; chaque accès contrôlé sous 72 h</a:t>
            </a:r>
            <a:endParaRPr lang="en-US" sz="1250" dirty="0"/>
          </a:p>
        </p:txBody>
      </p:sp>
      <p:sp>
        <p:nvSpPr>
          <p:cNvPr id="25" name="Text 18"/>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Des dossiers patients fiables</a:t>
            </a:r>
            <a:endParaRPr lang="en-US" sz="3200" dirty="0"/>
          </a:p>
        </p:txBody>
      </p:sp>
      <p:sp>
        <p:nvSpPr>
          <p:cNvPr id="3" name="Text 1"/>
          <p:cNvSpPr txBox="1"/>
          <p:nvPr/>
        </p:nvSpPr>
        <p:spPr>
          <a:xfrm>
            <a:off x="548640" y="987552"/>
            <a:ext cx="11094415"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Rien n'est perdu, rien n'est écrasé</a:t>
            </a:r>
            <a:endParaRPr lang="en-US" sz="1500" dirty="0"/>
          </a:p>
        </p:txBody>
      </p:sp>
      <p:sp>
        <p:nvSpPr>
          <p:cNvPr id="4" name="Shape 2"/>
          <p:cNvSpPr/>
          <p:nvPr/>
        </p:nvSpPr>
        <p:spPr>
          <a:xfrm>
            <a:off x="548640" y="1600200"/>
            <a:ext cx="3520440" cy="2011680"/>
          </a:xfrm>
          <a:prstGeom prst="rect">
            <a:avLst/>
          </a:prstGeom>
          <a:solidFill>
            <a:srgbClr val="FFFFFF"/>
          </a:solidFill>
          <a:ln w="12700">
            <a:solidFill>
              <a:srgbClr val="C0392B"/>
            </a:solidFill>
            <a:prstDash val="solid"/>
          </a:ln>
        </p:spPr>
      </p:sp>
      <p:sp>
        <p:nvSpPr>
          <p:cNvPr id="5" name="Shape 3"/>
          <p:cNvSpPr/>
          <p:nvPr/>
        </p:nvSpPr>
        <p:spPr>
          <a:xfrm>
            <a:off x="777240" y="1828800"/>
            <a:ext cx="594360" cy="59436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919886" y="1971446"/>
            <a:ext cx="309067" cy="309067"/>
          </a:xfrm>
          <a:prstGeom prst="rect">
            <a:avLst/>
          </a:prstGeom>
        </p:spPr>
      </p:pic>
      <p:sp>
        <p:nvSpPr>
          <p:cNvPr id="7" name="Text 4"/>
          <p:cNvSpPr txBox="1"/>
          <p:nvPr/>
        </p:nvSpPr>
        <p:spPr>
          <a:xfrm>
            <a:off x="1508760" y="1874520"/>
            <a:ext cx="2423160" cy="502920"/>
          </a:xfrm>
          <a:prstGeom prst="rect">
            <a:avLst/>
          </a:prstGeom>
          <a:noFill/>
          <a:ln/>
        </p:spPr>
        <p:txBody>
          <a:bodyPr wrap="square" lIns="0" tIns="0" rIns="0" bIns="0" rtlCol="0" anchor="ctr"/>
          <a:lstStyle/>
          <a:p>
            <a:pPr indent="0" marL="0">
              <a:buNone/>
            </a:pPr>
            <a:r>
              <a:rPr lang="en-US" sz="1700" b="1" dirty="0">
                <a:solidFill>
                  <a:srgbClr val="0B2545"/>
                </a:solidFill>
              </a:rPr>
              <a:t>Modèle standard</a:t>
            </a:r>
            <a:endParaRPr lang="en-US" sz="1700" dirty="0"/>
          </a:p>
        </p:txBody>
      </p:sp>
      <p:sp>
        <p:nvSpPr>
          <p:cNvPr id="8" name="Text 5"/>
          <p:cNvSpPr txBox="1"/>
          <p:nvPr/>
        </p:nvSpPr>
        <p:spPr>
          <a:xfrm>
            <a:off x="777240" y="2560320"/>
            <a:ext cx="3108960" cy="960120"/>
          </a:xfrm>
          <a:prstGeom prst="rect">
            <a:avLst/>
          </a:prstGeom>
          <a:noFill/>
          <a:ln/>
        </p:spPr>
        <p:txBody>
          <a:bodyPr wrap="square" lIns="0" tIns="0" rIns="0" bIns="0" rtlCol="0" anchor="t"/>
          <a:lstStyle/>
          <a:p>
            <a:pPr indent="0" marL="0">
              <a:buNone/>
            </a:pPr>
            <a:r>
              <a:rPr lang="en-US" sz="1400" dirty="0">
                <a:solidFill>
                  <a:srgbClr val="5B6770"/>
                </a:solidFill>
              </a:rPr>
              <a:t>Les dossiers suivent le standard HL7 FHIR : échanges facilités avec les hôpitaux.</a:t>
            </a:r>
            <a:endParaRPr lang="en-US" sz="1400" dirty="0"/>
          </a:p>
        </p:txBody>
      </p:sp>
      <p:sp>
        <p:nvSpPr>
          <p:cNvPr id="9" name="Shape 6"/>
          <p:cNvSpPr/>
          <p:nvPr/>
        </p:nvSpPr>
        <p:spPr>
          <a:xfrm>
            <a:off x="4297680" y="1600200"/>
            <a:ext cx="3520440" cy="2011680"/>
          </a:xfrm>
          <a:prstGeom prst="rect">
            <a:avLst/>
          </a:prstGeom>
          <a:solidFill>
            <a:srgbClr val="FFFFFF"/>
          </a:solidFill>
          <a:ln w="12700">
            <a:solidFill>
              <a:srgbClr val="C0392B"/>
            </a:solidFill>
            <a:prstDash val="solid"/>
          </a:ln>
        </p:spPr>
      </p:sp>
      <p:sp>
        <p:nvSpPr>
          <p:cNvPr id="10" name="Shape 7"/>
          <p:cNvSpPr/>
          <p:nvPr/>
        </p:nvSpPr>
        <p:spPr>
          <a:xfrm>
            <a:off x="4526280" y="1828800"/>
            <a:ext cx="594360" cy="59436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668926" y="1971446"/>
            <a:ext cx="309067" cy="309067"/>
          </a:xfrm>
          <a:prstGeom prst="rect">
            <a:avLst/>
          </a:prstGeom>
        </p:spPr>
      </p:pic>
      <p:sp>
        <p:nvSpPr>
          <p:cNvPr id="12" name="Text 8"/>
          <p:cNvSpPr txBox="1"/>
          <p:nvPr/>
        </p:nvSpPr>
        <p:spPr>
          <a:xfrm>
            <a:off x="5257800" y="1874520"/>
            <a:ext cx="2423160" cy="502920"/>
          </a:xfrm>
          <a:prstGeom prst="rect">
            <a:avLst/>
          </a:prstGeom>
          <a:noFill/>
          <a:ln/>
        </p:spPr>
        <p:txBody>
          <a:bodyPr wrap="square" lIns="0" tIns="0" rIns="0" bIns="0" rtlCol="0" anchor="ctr"/>
          <a:lstStyle/>
          <a:p>
            <a:pPr indent="0" marL="0">
              <a:buNone/>
            </a:pPr>
            <a:r>
              <a:rPr lang="en-US" sz="1700" b="1" dirty="0">
                <a:solidFill>
                  <a:srgbClr val="0B2545"/>
                </a:solidFill>
              </a:rPr>
              <a:t>Jamais écrasé</a:t>
            </a:r>
            <a:endParaRPr lang="en-US" sz="1700" dirty="0"/>
          </a:p>
        </p:txBody>
      </p:sp>
      <p:sp>
        <p:nvSpPr>
          <p:cNvPr id="13" name="Text 9"/>
          <p:cNvSpPr txBox="1"/>
          <p:nvPr/>
        </p:nvSpPr>
        <p:spPr>
          <a:xfrm>
            <a:off x="4526280" y="2560320"/>
            <a:ext cx="3108960" cy="960120"/>
          </a:xfrm>
          <a:prstGeom prst="rect">
            <a:avLst/>
          </a:prstGeom>
          <a:noFill/>
          <a:ln/>
        </p:spPr>
        <p:txBody>
          <a:bodyPr wrap="square" lIns="0" tIns="0" rIns="0" bIns="0" rtlCol="0" anchor="t"/>
          <a:lstStyle/>
          <a:p>
            <a:pPr indent="0" marL="0">
              <a:buNone/>
            </a:pPr>
            <a:r>
              <a:rPr lang="en-US" sz="1400" dirty="0">
                <a:solidFill>
                  <a:srgbClr val="5B6770"/>
                </a:solidFill>
              </a:rPr>
              <a:t>Une correction est une nouvelle version : qui, quand, pourquoi.</a:t>
            </a:r>
            <a:endParaRPr lang="en-US" sz="1400" dirty="0"/>
          </a:p>
        </p:txBody>
      </p:sp>
      <p:sp>
        <p:nvSpPr>
          <p:cNvPr id="14" name="Shape 10"/>
          <p:cNvSpPr/>
          <p:nvPr/>
        </p:nvSpPr>
        <p:spPr>
          <a:xfrm>
            <a:off x="8046720" y="1600200"/>
            <a:ext cx="3520440" cy="2011680"/>
          </a:xfrm>
          <a:prstGeom prst="rect">
            <a:avLst/>
          </a:prstGeom>
          <a:solidFill>
            <a:srgbClr val="FFFFFF"/>
          </a:solidFill>
          <a:ln w="12700">
            <a:solidFill>
              <a:srgbClr val="C0392B"/>
            </a:solidFill>
            <a:prstDash val="solid"/>
          </a:ln>
        </p:spPr>
      </p:sp>
      <p:sp>
        <p:nvSpPr>
          <p:cNvPr id="15" name="Shape 11"/>
          <p:cNvSpPr/>
          <p:nvPr/>
        </p:nvSpPr>
        <p:spPr>
          <a:xfrm>
            <a:off x="8275320" y="1828800"/>
            <a:ext cx="594360" cy="59436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8417966" y="1971446"/>
            <a:ext cx="309067" cy="309067"/>
          </a:xfrm>
          <a:prstGeom prst="rect">
            <a:avLst/>
          </a:prstGeom>
        </p:spPr>
      </p:pic>
      <p:sp>
        <p:nvSpPr>
          <p:cNvPr id="17" name="Text 12"/>
          <p:cNvSpPr txBox="1"/>
          <p:nvPr/>
        </p:nvSpPr>
        <p:spPr>
          <a:xfrm>
            <a:off x="9006840" y="1874520"/>
            <a:ext cx="2423160" cy="502920"/>
          </a:xfrm>
          <a:prstGeom prst="rect">
            <a:avLst/>
          </a:prstGeom>
          <a:noFill/>
          <a:ln/>
        </p:spPr>
        <p:txBody>
          <a:bodyPr wrap="square" lIns="0" tIns="0" rIns="0" bIns="0" rtlCol="0" anchor="ctr"/>
          <a:lstStyle/>
          <a:p>
            <a:pPr indent="0" marL="0">
              <a:buNone/>
            </a:pPr>
            <a:r>
              <a:rPr lang="en-US" sz="1700" b="1" dirty="0">
                <a:solidFill>
                  <a:srgbClr val="0B2545"/>
                </a:solidFill>
              </a:rPr>
              <a:t>Fichiers verrouillés</a:t>
            </a:r>
            <a:endParaRPr lang="en-US" sz="1700" dirty="0"/>
          </a:p>
        </p:txBody>
      </p:sp>
      <p:sp>
        <p:nvSpPr>
          <p:cNvPr id="18" name="Text 13"/>
          <p:cNvSpPr txBox="1"/>
          <p:nvPr/>
        </p:nvSpPr>
        <p:spPr>
          <a:xfrm>
            <a:off x="8275320" y="2560320"/>
            <a:ext cx="3108960" cy="960120"/>
          </a:xfrm>
          <a:prstGeom prst="rect">
            <a:avLst/>
          </a:prstGeom>
          <a:noFill/>
          <a:ln/>
        </p:spPr>
        <p:txBody>
          <a:bodyPr wrap="square" lIns="0" tIns="0" rIns="0" bIns="0" rtlCol="0" anchor="t"/>
          <a:lstStyle/>
          <a:p>
            <a:pPr indent="0" marL="0">
              <a:buNone/>
            </a:pPr>
            <a:r>
              <a:rPr lang="en-US" sz="1400" dirty="0">
                <a:solidFill>
                  <a:srgbClr val="5B6770"/>
                </a:solidFill>
              </a:rPr>
              <a:t>Documents dans S3 avec Object Lock et empreinte vérifiée au téléchargement.</a:t>
            </a:r>
            <a:endParaRPr lang="en-US" sz="1400" dirty="0"/>
          </a:p>
        </p:txBody>
      </p:sp>
      <p:sp>
        <p:nvSpPr>
          <p:cNvPr id="19" name="Shape 14"/>
          <p:cNvSpPr/>
          <p:nvPr/>
        </p:nvSpPr>
        <p:spPr>
          <a:xfrm>
            <a:off x="548640" y="3840480"/>
            <a:ext cx="3520440" cy="2011680"/>
          </a:xfrm>
          <a:prstGeom prst="rect">
            <a:avLst/>
          </a:prstGeom>
          <a:solidFill>
            <a:srgbClr val="FFFFFF"/>
          </a:solidFill>
          <a:ln w="12700">
            <a:solidFill>
              <a:srgbClr val="C0392B"/>
            </a:solidFill>
            <a:prstDash val="solid"/>
          </a:ln>
        </p:spPr>
      </p:sp>
      <p:sp>
        <p:nvSpPr>
          <p:cNvPr id="20" name="Shape 15"/>
          <p:cNvSpPr/>
          <p:nvPr/>
        </p:nvSpPr>
        <p:spPr>
          <a:xfrm>
            <a:off x="777240" y="4069080"/>
            <a:ext cx="594360" cy="59436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919886" y="4211726"/>
            <a:ext cx="309067" cy="309067"/>
          </a:xfrm>
          <a:prstGeom prst="rect">
            <a:avLst/>
          </a:prstGeom>
        </p:spPr>
      </p:pic>
      <p:sp>
        <p:nvSpPr>
          <p:cNvPr id="22" name="Text 16"/>
          <p:cNvSpPr txBox="1"/>
          <p:nvPr/>
        </p:nvSpPr>
        <p:spPr>
          <a:xfrm>
            <a:off x="1508760" y="4114800"/>
            <a:ext cx="2423160" cy="502920"/>
          </a:xfrm>
          <a:prstGeom prst="rect">
            <a:avLst/>
          </a:prstGeom>
          <a:noFill/>
          <a:ln/>
        </p:spPr>
        <p:txBody>
          <a:bodyPr wrap="square" lIns="0" tIns="0" rIns="0" bIns="0" rtlCol="0" anchor="ctr"/>
          <a:lstStyle/>
          <a:p>
            <a:pPr indent="0" marL="0">
              <a:buNone/>
            </a:pPr>
            <a:r>
              <a:rPr lang="en-US" sz="1700" b="1" dirty="0">
                <a:solidFill>
                  <a:srgbClr val="0B2545"/>
                </a:solidFill>
              </a:rPr>
              <a:t>Sauvegardes</a:t>
            </a:r>
            <a:endParaRPr lang="en-US" sz="1700" dirty="0"/>
          </a:p>
        </p:txBody>
      </p:sp>
      <p:sp>
        <p:nvSpPr>
          <p:cNvPr id="23" name="Text 17"/>
          <p:cNvSpPr txBox="1"/>
          <p:nvPr/>
        </p:nvSpPr>
        <p:spPr>
          <a:xfrm>
            <a:off x="777240" y="4800600"/>
            <a:ext cx="3108960" cy="960120"/>
          </a:xfrm>
          <a:prstGeom prst="rect">
            <a:avLst/>
          </a:prstGeom>
          <a:noFill/>
          <a:ln/>
        </p:spPr>
        <p:txBody>
          <a:bodyPr wrap="square" lIns="0" tIns="0" rIns="0" bIns="0" rtlCol="0" anchor="t"/>
          <a:lstStyle/>
          <a:p>
            <a:pPr indent="0" marL="0">
              <a:buNone/>
            </a:pPr>
            <a:r>
              <a:rPr lang="en-US" sz="1400" dirty="0">
                <a:solidFill>
                  <a:srgbClr val="5B6770"/>
                </a:solidFill>
              </a:rPr>
              <a:t>Quotidiennes, restauration à 35 jours, copiées à Francfort, verrouillées.</a:t>
            </a:r>
            <a:endParaRPr lang="en-US" sz="1400" dirty="0"/>
          </a:p>
        </p:txBody>
      </p:sp>
      <p:sp>
        <p:nvSpPr>
          <p:cNvPr id="24" name="Shape 18"/>
          <p:cNvSpPr/>
          <p:nvPr/>
        </p:nvSpPr>
        <p:spPr>
          <a:xfrm>
            <a:off x="4297680" y="3840480"/>
            <a:ext cx="3520440" cy="2011680"/>
          </a:xfrm>
          <a:prstGeom prst="rect">
            <a:avLst/>
          </a:prstGeom>
          <a:solidFill>
            <a:srgbClr val="FFFFFF"/>
          </a:solidFill>
          <a:ln w="12700">
            <a:solidFill>
              <a:srgbClr val="C0392B"/>
            </a:solidFill>
            <a:prstDash val="solid"/>
          </a:ln>
        </p:spPr>
      </p:sp>
      <p:sp>
        <p:nvSpPr>
          <p:cNvPr id="25" name="Shape 19"/>
          <p:cNvSpPr/>
          <p:nvPr/>
        </p:nvSpPr>
        <p:spPr>
          <a:xfrm>
            <a:off x="4526280" y="4069080"/>
            <a:ext cx="594360" cy="594360"/>
          </a:xfrm>
          <a:prstGeom prst="ellipse">
            <a:avLst/>
          </a:prstGeom>
          <a:solidFill>
            <a:srgbClr val="C0392B"/>
          </a:solidFill>
          <a:ln w="12700">
            <a:solidFill>
              <a:srgbClr val="C0392B"/>
            </a:solidFill>
            <a:prstDash val="solid"/>
          </a:ln>
        </p:spPr>
      </p:sp>
      <p:pic>
        <p:nvPicPr>
          <p:cNvPr id="26" name="Image 4" descr="preencoded.png">    </p:cNvPr>
          <p:cNvPicPr>
            <a:picLocks noChangeAspect="1"/>
          </p:cNvPicPr>
          <p:nvPr/>
        </p:nvPicPr>
        <p:blipFill>
          <a:blip r:embed="rId5"/>
          <a:stretch>
            <a:fillRect/>
          </a:stretch>
        </p:blipFill>
        <p:spPr>
          <a:xfrm>
            <a:off x="4668926" y="4211726"/>
            <a:ext cx="309067" cy="309067"/>
          </a:xfrm>
          <a:prstGeom prst="rect">
            <a:avLst/>
          </a:prstGeom>
        </p:spPr>
      </p:pic>
      <p:sp>
        <p:nvSpPr>
          <p:cNvPr id="27" name="Text 20"/>
          <p:cNvSpPr txBox="1"/>
          <p:nvPr/>
        </p:nvSpPr>
        <p:spPr>
          <a:xfrm>
            <a:off x="5257800" y="4114800"/>
            <a:ext cx="2423160" cy="502920"/>
          </a:xfrm>
          <a:prstGeom prst="rect">
            <a:avLst/>
          </a:prstGeom>
          <a:noFill/>
          <a:ln/>
        </p:spPr>
        <p:txBody>
          <a:bodyPr wrap="square" lIns="0" tIns="0" rIns="0" bIns="0" rtlCol="0" anchor="ctr"/>
          <a:lstStyle/>
          <a:p>
            <a:pPr indent="0" marL="0">
              <a:buNone/>
            </a:pPr>
            <a:r>
              <a:rPr lang="en-US" sz="1700" b="1" dirty="0">
                <a:solidFill>
                  <a:srgbClr val="0B2545"/>
                </a:solidFill>
              </a:rPr>
              <a:t>Restaurations testées</a:t>
            </a:r>
            <a:endParaRPr lang="en-US" sz="1700" dirty="0"/>
          </a:p>
        </p:txBody>
      </p:sp>
      <p:sp>
        <p:nvSpPr>
          <p:cNvPr id="28" name="Text 21"/>
          <p:cNvSpPr txBox="1"/>
          <p:nvPr/>
        </p:nvSpPr>
        <p:spPr>
          <a:xfrm>
            <a:off x="4526280" y="4800600"/>
            <a:ext cx="3108960" cy="960120"/>
          </a:xfrm>
          <a:prstGeom prst="rect">
            <a:avLst/>
          </a:prstGeom>
          <a:noFill/>
          <a:ln/>
        </p:spPr>
        <p:txBody>
          <a:bodyPr wrap="square" lIns="0" tIns="0" rIns="0" bIns="0" rtlCol="0" anchor="t"/>
          <a:lstStyle/>
          <a:p>
            <a:pPr indent="0" marL="0">
              <a:buNone/>
            </a:pPr>
            <a:r>
              <a:rPr lang="en-US" sz="1400" dirty="0">
                <a:solidFill>
                  <a:srgbClr val="5B6770"/>
                </a:solidFill>
              </a:rPr>
              <a:t>Une restauration est testée chaque mois.</a:t>
            </a:r>
            <a:endParaRPr lang="en-US" sz="1400" dirty="0"/>
          </a:p>
        </p:txBody>
      </p:sp>
      <p:sp>
        <p:nvSpPr>
          <p:cNvPr id="29" name="Shape 22"/>
          <p:cNvSpPr/>
          <p:nvPr/>
        </p:nvSpPr>
        <p:spPr>
          <a:xfrm>
            <a:off x="8046720" y="3840480"/>
            <a:ext cx="3520440" cy="2011680"/>
          </a:xfrm>
          <a:prstGeom prst="rect">
            <a:avLst/>
          </a:prstGeom>
          <a:solidFill>
            <a:srgbClr val="FFFFFF"/>
          </a:solidFill>
          <a:ln w="12700">
            <a:solidFill>
              <a:srgbClr val="C0392B"/>
            </a:solidFill>
            <a:prstDash val="solid"/>
          </a:ln>
        </p:spPr>
      </p:sp>
      <p:sp>
        <p:nvSpPr>
          <p:cNvPr id="30" name="Shape 23"/>
          <p:cNvSpPr/>
          <p:nvPr/>
        </p:nvSpPr>
        <p:spPr>
          <a:xfrm>
            <a:off x="8275320" y="4069080"/>
            <a:ext cx="594360" cy="594360"/>
          </a:xfrm>
          <a:prstGeom prst="ellipse">
            <a:avLst/>
          </a:prstGeom>
          <a:solidFill>
            <a:srgbClr val="C0392B"/>
          </a:solidFill>
          <a:ln w="12700">
            <a:solidFill>
              <a:srgbClr val="C0392B"/>
            </a:solidFill>
            <a:prstDash val="solid"/>
          </a:ln>
        </p:spPr>
      </p:sp>
      <p:pic>
        <p:nvPicPr>
          <p:cNvPr id="31" name="Image 5" descr="preencoded.png">    </p:cNvPr>
          <p:cNvPicPr>
            <a:picLocks noChangeAspect="1"/>
          </p:cNvPicPr>
          <p:nvPr/>
        </p:nvPicPr>
        <p:blipFill>
          <a:blip r:embed="rId6"/>
          <a:stretch>
            <a:fillRect/>
          </a:stretch>
        </p:blipFill>
        <p:spPr>
          <a:xfrm>
            <a:off x="8417966" y="4211726"/>
            <a:ext cx="309067" cy="309067"/>
          </a:xfrm>
          <a:prstGeom prst="rect">
            <a:avLst/>
          </a:prstGeom>
        </p:spPr>
      </p:pic>
      <p:sp>
        <p:nvSpPr>
          <p:cNvPr id="32" name="Text 24"/>
          <p:cNvSpPr txBox="1"/>
          <p:nvPr/>
        </p:nvSpPr>
        <p:spPr>
          <a:xfrm>
            <a:off x="9006840" y="4114800"/>
            <a:ext cx="2423160" cy="502920"/>
          </a:xfrm>
          <a:prstGeom prst="rect">
            <a:avLst/>
          </a:prstGeom>
          <a:noFill/>
          <a:ln/>
        </p:spPr>
        <p:txBody>
          <a:bodyPr wrap="square" lIns="0" tIns="0" rIns="0" bIns="0" rtlCol="0" anchor="ctr"/>
          <a:lstStyle/>
          <a:p>
            <a:pPr indent="0" marL="0">
              <a:buNone/>
            </a:pPr>
            <a:r>
              <a:rPr lang="en-US" sz="1700" b="1" dirty="0">
                <a:solidFill>
                  <a:srgbClr val="0B2545"/>
                </a:solidFill>
              </a:rPr>
              <a:t>Tests sans vraies données</a:t>
            </a:r>
            <a:endParaRPr lang="en-US" sz="1700" dirty="0"/>
          </a:p>
        </p:txBody>
      </p:sp>
      <p:sp>
        <p:nvSpPr>
          <p:cNvPr id="33" name="Text 25"/>
          <p:cNvSpPr txBox="1"/>
          <p:nvPr/>
        </p:nvSpPr>
        <p:spPr>
          <a:xfrm>
            <a:off x="8275320" y="4800600"/>
            <a:ext cx="3108960" cy="960120"/>
          </a:xfrm>
          <a:prstGeom prst="rect">
            <a:avLst/>
          </a:prstGeom>
          <a:noFill/>
          <a:ln/>
        </p:spPr>
        <p:txBody>
          <a:bodyPr wrap="square" lIns="0" tIns="0" rIns="0" bIns="0" rtlCol="0" anchor="t"/>
          <a:lstStyle/>
          <a:p>
            <a:pPr indent="0" marL="0">
              <a:buNone/>
            </a:pPr>
            <a:r>
              <a:rPr lang="en-US" sz="1400" dirty="0">
                <a:solidFill>
                  <a:srgbClr val="5B6770"/>
                </a:solidFill>
              </a:rPr>
              <a:t>Les environnements de test utilisent de faux patients générés.</a:t>
            </a:r>
            <a:endParaRPr lang="en-US" sz="1400" dirty="0"/>
          </a:p>
        </p:txBody>
      </p:sp>
      <p:sp>
        <p:nvSpPr>
          <p:cNvPr id="34" name="Text 26"/>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Une sécurité en couches</a:t>
            </a:r>
            <a:endParaRPr lang="en-US" sz="3200" dirty="0"/>
          </a:p>
        </p:txBody>
      </p:sp>
      <p:sp>
        <p:nvSpPr>
          <p:cNvPr id="3" name="Text 1"/>
          <p:cNvSpPr txBox="1"/>
          <p:nvPr/>
        </p:nvSpPr>
        <p:spPr>
          <a:xfrm>
            <a:off x="548640" y="987552"/>
            <a:ext cx="11094415"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Chaque couche protège encore les données si une autre cède</a:t>
            </a:r>
            <a:endParaRPr lang="en-US" sz="1500" dirty="0"/>
          </a:p>
        </p:txBody>
      </p:sp>
      <p:sp>
        <p:nvSpPr>
          <p:cNvPr id="4" name="Shape 2"/>
          <p:cNvSpPr/>
          <p:nvPr/>
        </p:nvSpPr>
        <p:spPr>
          <a:xfrm>
            <a:off x="548640" y="1554480"/>
            <a:ext cx="6766560" cy="822960"/>
          </a:xfrm>
          <a:prstGeom prst="rect">
            <a:avLst/>
          </a:prstGeom>
          <a:solidFill>
            <a:srgbClr val="FFFFFF"/>
          </a:solidFill>
          <a:ln w="25400">
            <a:solidFill>
              <a:srgbClr val="0F766E"/>
            </a:solidFill>
            <a:prstDash val="solid"/>
          </a:ln>
        </p:spPr>
      </p:sp>
      <p:sp>
        <p:nvSpPr>
          <p:cNvPr id="5" name="Text 3"/>
          <p:cNvSpPr txBox="1"/>
          <p:nvPr/>
        </p:nvSpPr>
        <p:spPr>
          <a:xfrm>
            <a:off x="731520" y="1554480"/>
            <a:ext cx="6492240" cy="822960"/>
          </a:xfrm>
          <a:prstGeom prst="rect">
            <a:avLst/>
          </a:prstGeom>
          <a:noFill/>
          <a:ln/>
        </p:spPr>
        <p:txBody>
          <a:bodyPr wrap="square" lIns="0" tIns="0" rIns="0" bIns="0" rtlCol="0" anchor="ctr"/>
          <a:lstStyle/>
          <a:p>
            <a:pPr indent="0" marL="0">
              <a:buNone/>
            </a:pPr>
            <a:r>
              <a:rPr lang="en-US" sz="1600" b="1" dirty="0">
                <a:solidFill>
                  <a:srgbClr val="0F766E"/>
                </a:solidFill>
              </a:rPr>
              <a:t>En transit
</a:t>
            </a:r>
            <a:pPr indent="0" marL="0">
              <a:buNone/>
            </a:pPr>
            <a:r>
              <a:rPr lang="en-US" sz="1300" dirty="0">
                <a:solidFill>
                  <a:srgbClr val="0B2545"/>
                </a:solidFill>
              </a:rPr>
              <a:t>HTTPS (TLS 1.3) pour les utilisateurs · TLS entre services et bases</a:t>
            </a:r>
            <a:endParaRPr lang="en-US" sz="1600" dirty="0"/>
          </a:p>
        </p:txBody>
      </p:sp>
      <p:sp>
        <p:nvSpPr>
          <p:cNvPr id="6" name="Shape 4"/>
          <p:cNvSpPr/>
          <p:nvPr/>
        </p:nvSpPr>
        <p:spPr>
          <a:xfrm>
            <a:off x="548640" y="2514600"/>
            <a:ext cx="6766560" cy="822960"/>
          </a:xfrm>
          <a:prstGeom prst="rect">
            <a:avLst/>
          </a:prstGeom>
          <a:solidFill>
            <a:srgbClr val="FFFFFF"/>
          </a:solidFill>
          <a:ln w="25400">
            <a:solidFill>
              <a:srgbClr val="7AA116"/>
            </a:solidFill>
            <a:prstDash val="solid"/>
          </a:ln>
        </p:spPr>
      </p:sp>
      <p:sp>
        <p:nvSpPr>
          <p:cNvPr id="7" name="Text 5"/>
          <p:cNvSpPr txBox="1"/>
          <p:nvPr/>
        </p:nvSpPr>
        <p:spPr>
          <a:xfrm>
            <a:off x="731520" y="2514600"/>
            <a:ext cx="6492240" cy="822960"/>
          </a:xfrm>
          <a:prstGeom prst="rect">
            <a:avLst/>
          </a:prstGeom>
          <a:noFill/>
          <a:ln/>
        </p:spPr>
        <p:txBody>
          <a:bodyPr wrap="square" lIns="0" tIns="0" rIns="0" bIns="0" rtlCol="0" anchor="ctr"/>
          <a:lstStyle/>
          <a:p>
            <a:pPr indent="0" marL="0">
              <a:buNone/>
            </a:pPr>
            <a:r>
              <a:rPr lang="en-US" sz="1600" b="1" dirty="0">
                <a:solidFill>
                  <a:srgbClr val="7AA116"/>
                </a:solidFill>
              </a:rPr>
              <a:t>Au repos
</a:t>
            </a:r>
            <a:pPr indent="0" marL="0">
              <a:buNone/>
            </a:pPr>
            <a:r>
              <a:rPr lang="en-US" sz="1300" dirty="0">
                <a:solidFill>
                  <a:srgbClr val="0B2545"/>
                </a:solidFill>
              </a:rPr>
              <a:t>Base, fichiers et sauvegardes chiffrés avec des clés AWS KMS</a:t>
            </a:r>
            <a:endParaRPr lang="en-US" sz="1600" dirty="0"/>
          </a:p>
        </p:txBody>
      </p:sp>
      <p:sp>
        <p:nvSpPr>
          <p:cNvPr id="8" name="Shape 6"/>
          <p:cNvSpPr/>
          <p:nvPr/>
        </p:nvSpPr>
        <p:spPr>
          <a:xfrm>
            <a:off x="548640" y="3474720"/>
            <a:ext cx="6766560" cy="822960"/>
          </a:xfrm>
          <a:prstGeom prst="rect">
            <a:avLst/>
          </a:prstGeom>
          <a:solidFill>
            <a:srgbClr val="FFFFFF"/>
          </a:solidFill>
          <a:ln w="25400">
            <a:solidFill>
              <a:srgbClr val="C0392B"/>
            </a:solidFill>
            <a:prstDash val="solid"/>
          </a:ln>
        </p:spPr>
      </p:sp>
      <p:sp>
        <p:nvSpPr>
          <p:cNvPr id="9" name="Text 7"/>
          <p:cNvSpPr txBox="1"/>
          <p:nvPr/>
        </p:nvSpPr>
        <p:spPr>
          <a:xfrm>
            <a:off x="731520" y="3474720"/>
            <a:ext cx="6492240" cy="822960"/>
          </a:xfrm>
          <a:prstGeom prst="rect">
            <a:avLst/>
          </a:prstGeom>
          <a:noFill/>
          <a:ln/>
        </p:spPr>
        <p:txBody>
          <a:bodyPr wrap="square" lIns="0" tIns="0" rIns="0" bIns="0" rtlCol="0" anchor="ctr"/>
          <a:lstStyle/>
          <a:p>
            <a:pPr indent="0" marL="0">
              <a:buNone/>
            </a:pPr>
            <a:r>
              <a:rPr lang="en-US" sz="1600" b="1" dirty="0">
                <a:solidFill>
                  <a:srgbClr val="C0392B"/>
                </a:solidFill>
              </a:rPr>
              <a:t>Champs sensibles
</a:t>
            </a:r>
            <a:pPr indent="0" marL="0">
              <a:buNone/>
            </a:pPr>
            <a:r>
              <a:rPr lang="en-US" sz="1300" dirty="0">
                <a:solidFill>
                  <a:srgbClr val="0B2545"/>
                </a:solidFill>
              </a:rPr>
              <a:t>Chiffrés à nouveau par le service → une sauvegarde volée reste illisible</a:t>
            </a:r>
            <a:endParaRPr lang="en-US" sz="1600" dirty="0"/>
          </a:p>
        </p:txBody>
      </p:sp>
      <p:sp>
        <p:nvSpPr>
          <p:cNvPr id="10" name="Shape 8"/>
          <p:cNvSpPr/>
          <p:nvPr/>
        </p:nvSpPr>
        <p:spPr>
          <a:xfrm>
            <a:off x="548640" y="4434840"/>
            <a:ext cx="6766560" cy="822960"/>
          </a:xfrm>
          <a:prstGeom prst="rect">
            <a:avLst/>
          </a:prstGeom>
          <a:solidFill>
            <a:srgbClr val="FFFFFF"/>
          </a:solidFill>
          <a:ln w="25400">
            <a:solidFill>
              <a:srgbClr val="B9770E"/>
            </a:solidFill>
            <a:prstDash val="solid"/>
          </a:ln>
        </p:spPr>
      </p:sp>
      <p:sp>
        <p:nvSpPr>
          <p:cNvPr id="11" name="Text 9"/>
          <p:cNvSpPr txBox="1"/>
          <p:nvPr/>
        </p:nvSpPr>
        <p:spPr>
          <a:xfrm>
            <a:off x="731520" y="4434840"/>
            <a:ext cx="6492240" cy="822960"/>
          </a:xfrm>
          <a:prstGeom prst="rect">
            <a:avLst/>
          </a:prstGeom>
          <a:noFill/>
          <a:ln/>
        </p:spPr>
        <p:txBody>
          <a:bodyPr wrap="square" lIns="0" tIns="0" rIns="0" bIns="0" rtlCol="0" anchor="ctr"/>
          <a:lstStyle/>
          <a:p>
            <a:pPr indent="0" marL="0">
              <a:buNone/>
            </a:pPr>
            <a:r>
              <a:rPr lang="en-US" sz="1600" b="1" dirty="0">
                <a:solidFill>
                  <a:srgbClr val="B9770E"/>
                </a:solidFill>
              </a:rPr>
              <a:t>Masquage
</a:t>
            </a:r>
            <a:pPr indent="0" marL="0">
              <a:buNone/>
            </a:pPr>
            <a:r>
              <a:rPr lang="en-US" sz="1300" dirty="0">
                <a:solidFill>
                  <a:srgbClr val="0B2545"/>
                </a:solidFill>
              </a:rPr>
              <a:t>Chaque rôle ne voit que le nécessaire : le pharmacien ne voit jamais le diagnostic</a:t>
            </a:r>
            <a:endParaRPr lang="en-US" sz="1600" dirty="0"/>
          </a:p>
        </p:txBody>
      </p:sp>
      <p:sp>
        <p:nvSpPr>
          <p:cNvPr id="12" name="Shape 10"/>
          <p:cNvSpPr/>
          <p:nvPr/>
        </p:nvSpPr>
        <p:spPr>
          <a:xfrm>
            <a:off x="7680960" y="1554480"/>
            <a:ext cx="3977640" cy="3703320"/>
          </a:xfrm>
          <a:prstGeom prst="rect">
            <a:avLst/>
          </a:prstGeom>
          <a:solidFill>
            <a:srgbClr val="FDEDEC"/>
          </a:solidFill>
          <a:ln w="12700">
            <a:solidFill>
              <a:srgbClr val="FDEDEC"/>
            </a:solidFill>
            <a:prstDash val="solid"/>
          </a:ln>
        </p:spPr>
      </p:sp>
      <p:sp>
        <p:nvSpPr>
          <p:cNvPr id="13" name="Shape 11"/>
          <p:cNvSpPr/>
          <p:nvPr/>
        </p:nvSpPr>
        <p:spPr>
          <a:xfrm>
            <a:off x="7863840" y="1719072"/>
            <a:ext cx="566928" cy="566928"/>
          </a:xfrm>
          <a:prstGeom prst="ellipse">
            <a:avLst/>
          </a:prstGeom>
          <a:solidFill>
            <a:srgbClr val="C0392B"/>
          </a:solidFill>
          <a:ln w="12700">
            <a:solidFill>
              <a:srgbClr val="C0392B"/>
            </a:solidFill>
            <a:prstDash val="solid"/>
          </a:ln>
        </p:spPr>
      </p:sp>
      <p:pic>
        <p:nvPicPr>
          <p:cNvPr id="14" name="Image 0" descr="preencoded.png">    </p:cNvPr>
          <p:cNvPicPr>
            <a:picLocks noChangeAspect="1"/>
          </p:cNvPicPr>
          <p:nvPr/>
        </p:nvPicPr>
        <p:blipFill>
          <a:blip r:embed="rId1"/>
          <a:stretch>
            <a:fillRect/>
          </a:stretch>
        </p:blipFill>
        <p:spPr>
          <a:xfrm>
            <a:off x="7999903" y="1855135"/>
            <a:ext cx="294803" cy="294803"/>
          </a:xfrm>
          <a:prstGeom prst="rect">
            <a:avLst/>
          </a:prstGeom>
        </p:spPr>
      </p:pic>
      <p:sp>
        <p:nvSpPr>
          <p:cNvPr id="15" name="Text 12"/>
          <p:cNvSpPr txBox="1"/>
          <p:nvPr/>
        </p:nvSpPr>
        <p:spPr>
          <a:xfrm>
            <a:off x="8549640" y="1783080"/>
            <a:ext cx="3017520" cy="457200"/>
          </a:xfrm>
          <a:prstGeom prst="rect">
            <a:avLst/>
          </a:prstGeom>
          <a:noFill/>
          <a:ln/>
        </p:spPr>
        <p:txBody>
          <a:bodyPr wrap="square" lIns="0" tIns="0" rIns="0" bIns="0" rtlCol="0" anchor="ctr"/>
          <a:lstStyle/>
          <a:p>
            <a:pPr indent="0" marL="0">
              <a:buNone/>
            </a:pPr>
            <a:r>
              <a:rPr lang="en-US" sz="1700" b="1" dirty="0">
                <a:solidFill>
                  <a:srgbClr val="C0392B"/>
                </a:solidFill>
              </a:rPr>
              <a:t>Qui peut voir un dossier ?</a:t>
            </a:r>
            <a:endParaRPr lang="en-US" sz="1700" dirty="0"/>
          </a:p>
        </p:txBody>
      </p:sp>
      <p:sp>
        <p:nvSpPr>
          <p:cNvPr id="16" name="Text 13"/>
          <p:cNvSpPr txBox="1"/>
          <p:nvPr/>
        </p:nvSpPr>
        <p:spPr>
          <a:xfrm>
            <a:off x="7863840" y="242316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2545"/>
                </a:solidFill>
              </a:rPr>
              <a:t>Le patient</a:t>
            </a:r>
            <a:endParaRPr lang="en-US" sz="1400" dirty="0"/>
          </a:p>
          <a:p>
            <a:pPr marL="342900" indent="-342900">
              <a:spcAft>
                <a:spcPts val="800"/>
              </a:spcAft>
              <a:buSzPct val="100000"/>
              <a:buChar char="•"/>
            </a:pPr>
            <a:r>
              <a:rPr lang="en-US" sz="1400" dirty="0">
                <a:solidFill>
                  <a:srgbClr val="0B2545"/>
                </a:solidFill>
              </a:rPr>
              <a:t>Un médecin avec un rendez-vous (récent)</a:t>
            </a:r>
            <a:endParaRPr lang="en-US" sz="1400" dirty="0"/>
          </a:p>
          <a:p>
            <a:pPr marL="342900" indent="-342900">
              <a:spcAft>
                <a:spcPts val="800"/>
              </a:spcAft>
              <a:buSzPct val="100000"/>
              <a:buChar char="•"/>
            </a:pPr>
            <a:r>
              <a:rPr lang="en-US" sz="1400" dirty="0">
                <a:solidFill>
                  <a:srgbClr val="0B2545"/>
                </a:solidFill>
              </a:rPr>
              <a:t>Un médecin autorisé par le patient</a:t>
            </a:r>
            <a:endParaRPr lang="en-US" sz="1400" dirty="0"/>
          </a:p>
          <a:p>
            <a:pPr marL="342900" indent="-342900">
              <a:spcAft>
                <a:spcPts val="800"/>
              </a:spcAft>
              <a:buSzPct val="100000"/>
              <a:buChar char="•"/>
            </a:pPr>
            <a:r>
              <a:rPr lang="en-US" sz="1400" dirty="0">
                <a:solidFill>
                  <a:srgbClr val="0B2545"/>
                </a:solidFill>
              </a:rPr>
              <a:t>Un urgentiste via l'accès d'urgence</a:t>
            </a:r>
            <a:endParaRPr lang="en-US" sz="1400" dirty="0"/>
          </a:p>
          <a:p>
            <a:pPr marL="342900" indent="-342900">
              <a:spcAft>
                <a:spcPts val="800"/>
              </a:spcAft>
              <a:buSzPct val="100000"/>
              <a:buChar char="•"/>
            </a:pPr>
            <a:r>
              <a:rPr lang="en-US" sz="1400" b="1" dirty="0">
                <a:solidFill>
                  <a:srgbClr val="0B2545"/>
                </a:solidFill>
              </a:rPr>
              <a:t>Tous les autres : refusé — et chaque accès est tracé</a:t>
            </a:r>
            <a:endParaRPr lang="en-US" sz="1400" dirty="0"/>
          </a:p>
        </p:txBody>
      </p:sp>
      <p:sp>
        <p:nvSpPr>
          <p:cNvPr id="17" name="Shape 14"/>
          <p:cNvSpPr/>
          <p:nvPr/>
        </p:nvSpPr>
        <p:spPr>
          <a:xfrm>
            <a:off x="548640" y="5532120"/>
            <a:ext cx="11109960" cy="777240"/>
          </a:xfrm>
          <a:prstGeom prst="rect">
            <a:avLst/>
          </a:prstGeom>
          <a:solidFill>
            <a:srgbClr val="F4F6F8"/>
          </a:solidFill>
          <a:ln w="12700">
            <a:solidFill>
              <a:srgbClr val="F4F6F8"/>
            </a:solidFill>
            <a:prstDash val="solid"/>
          </a:ln>
        </p:spPr>
      </p:sp>
      <p:sp>
        <p:nvSpPr>
          <p:cNvPr id="18" name="Text 15"/>
          <p:cNvSpPr txBox="1"/>
          <p:nvPr/>
        </p:nvSpPr>
        <p:spPr>
          <a:xfrm>
            <a:off x="731520" y="5532120"/>
            <a:ext cx="10789920" cy="777240"/>
          </a:xfrm>
          <a:prstGeom prst="rect">
            <a:avLst/>
          </a:prstGeom>
          <a:noFill/>
          <a:ln/>
        </p:spPr>
        <p:txBody>
          <a:bodyPr wrap="square" lIns="0" tIns="0" rIns="0" bIns="0" rtlCol="0" anchor="ctr"/>
          <a:lstStyle/>
          <a:p>
            <a:pPr indent="0" marL="0">
              <a:buNone/>
            </a:pPr>
            <a:r>
              <a:rPr lang="en-US" sz="1400" b="1" dirty="0">
                <a:solidFill>
                  <a:srgbClr val="0F766E"/>
                </a:solidFill>
              </a:rPr>
              <a:t>Connexion : </a:t>
            </a:r>
            <a:pPr indent="0" marL="0">
              <a:buNone/>
            </a:pPr>
            <a:r>
              <a:rPr lang="en-US" sz="1400" dirty="0">
                <a:solidFill>
                  <a:srgbClr val="0B2545"/>
                </a:solidFill>
              </a:rPr>
              <a:t>Keycloak, MFA obligatoire pour médecins, pharmaciens et admins.   </a:t>
            </a:r>
            <a:pPr indent="0" marL="0">
              <a:buNone/>
            </a:pPr>
            <a:r>
              <a:rPr lang="en-US" sz="1400" b="1" dirty="0">
                <a:solidFill>
                  <a:srgbClr val="0F766E"/>
                </a:solidFill>
              </a:rPr>
              <a:t>Conformité : </a:t>
            </a:r>
            <a:pPr indent="0" marL="0">
              <a:buNone/>
            </a:pPr>
            <a:r>
              <a:rPr lang="en-US" sz="1400" dirty="0">
                <a:solidFill>
                  <a:srgbClr val="0B2545"/>
                </a:solidFill>
              </a:rPr>
              <a:t>RGPD · hébergement HDS · dossiers conservés 20 ans.</a:t>
            </a:r>
            <a:endParaRPr lang="en-US" sz="1400" dirty="0"/>
          </a:p>
        </p:txBody>
      </p:sp>
      <p:sp>
        <p:nvSpPr>
          <p:cNvPr id="19" name="Text 16"/>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Conçu pour grandir</a:t>
            </a:r>
            <a:endParaRPr lang="en-US" sz="3200" dirty="0"/>
          </a:p>
        </p:txBody>
      </p:sp>
      <p:sp>
        <p:nvSpPr>
          <p:cNvPr id="3" name="Text 1"/>
          <p:cNvSpPr txBox="1"/>
          <p:nvPr/>
        </p:nvSpPr>
        <p:spPr>
          <a:xfrm>
            <a:off x="548640" y="987552"/>
            <a:ext cx="11094415"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Dimensionné pour 2 M de patients et le rush du lundi matin</a:t>
            </a:r>
            <a:endParaRPr lang="en-US" sz="1500" dirty="0"/>
          </a:p>
        </p:txBody>
      </p:sp>
      <p:sp>
        <p:nvSpPr>
          <p:cNvPr id="4" name="Shape 2"/>
          <p:cNvSpPr/>
          <p:nvPr/>
        </p:nvSpPr>
        <p:spPr>
          <a:xfrm>
            <a:off x="548640" y="1554480"/>
            <a:ext cx="3520440" cy="1371600"/>
          </a:xfrm>
          <a:prstGeom prst="rect">
            <a:avLst/>
          </a:prstGeom>
          <a:solidFill>
            <a:srgbClr val="E6F4F2"/>
          </a:solidFill>
          <a:ln w="12700">
            <a:solidFill>
              <a:srgbClr val="0F766E"/>
            </a:solidFill>
            <a:prstDash val="solid"/>
          </a:ln>
        </p:spPr>
      </p:sp>
      <p:sp>
        <p:nvSpPr>
          <p:cNvPr id="5" name="Text 3"/>
          <p:cNvSpPr txBox="1"/>
          <p:nvPr/>
        </p:nvSpPr>
        <p:spPr>
          <a:xfrm>
            <a:off x="548640" y="1627632"/>
            <a:ext cx="3520440" cy="777240"/>
          </a:xfrm>
          <a:prstGeom prst="rect">
            <a:avLst/>
          </a:prstGeom>
          <a:noFill/>
          <a:ln/>
        </p:spPr>
        <p:txBody>
          <a:bodyPr wrap="square" lIns="0" tIns="0" rIns="0" bIns="0" rtlCol="0" anchor="ctr"/>
          <a:lstStyle/>
          <a:p>
            <a:pPr algn="ctr" indent="0" marL="0">
              <a:buNone/>
            </a:pPr>
            <a:r>
              <a:rPr lang="en-US" sz="4000" b="1" dirty="0">
                <a:solidFill>
                  <a:srgbClr val="0F766E"/>
                </a:solidFill>
              </a:rPr>
              <a:t>32 000</a:t>
            </a:r>
            <a:endParaRPr lang="en-US" sz="4000" dirty="0"/>
          </a:p>
        </p:txBody>
      </p:sp>
      <p:sp>
        <p:nvSpPr>
          <p:cNvPr id="6" name="Text 4"/>
          <p:cNvSpPr txBox="1"/>
          <p:nvPr/>
        </p:nvSpPr>
        <p:spPr>
          <a:xfrm>
            <a:off x="548640" y="2395728"/>
            <a:ext cx="3520440" cy="411480"/>
          </a:xfrm>
          <a:prstGeom prst="rect">
            <a:avLst/>
          </a:prstGeom>
          <a:noFill/>
          <a:ln/>
        </p:spPr>
        <p:txBody>
          <a:bodyPr wrap="square" lIns="0" tIns="0" rIns="0" bIns="0" rtlCol="0" anchor="ctr"/>
          <a:lstStyle/>
          <a:p>
            <a:pPr algn="ctr" indent="0" marL="0">
              <a:buNone/>
            </a:pPr>
            <a:r>
              <a:rPr lang="en-US" sz="1500" dirty="0">
                <a:solidFill>
                  <a:srgbClr val="0B2545"/>
                </a:solidFill>
              </a:rPr>
              <a:t>consultations / jour</a:t>
            </a:r>
            <a:endParaRPr lang="en-US" sz="1500" dirty="0"/>
          </a:p>
        </p:txBody>
      </p:sp>
      <p:sp>
        <p:nvSpPr>
          <p:cNvPr id="7" name="Shape 5"/>
          <p:cNvSpPr/>
          <p:nvPr/>
        </p:nvSpPr>
        <p:spPr>
          <a:xfrm>
            <a:off x="4297680" y="1554480"/>
            <a:ext cx="3520440" cy="1371600"/>
          </a:xfrm>
          <a:prstGeom prst="rect">
            <a:avLst/>
          </a:prstGeom>
          <a:solidFill>
            <a:srgbClr val="E6F4F2"/>
          </a:solidFill>
          <a:ln w="12700">
            <a:solidFill>
              <a:srgbClr val="0F766E"/>
            </a:solidFill>
            <a:prstDash val="solid"/>
          </a:ln>
        </p:spPr>
      </p:sp>
      <p:sp>
        <p:nvSpPr>
          <p:cNvPr id="8" name="Text 6"/>
          <p:cNvSpPr txBox="1"/>
          <p:nvPr/>
        </p:nvSpPr>
        <p:spPr>
          <a:xfrm>
            <a:off x="4297680" y="1627632"/>
            <a:ext cx="3520440" cy="777240"/>
          </a:xfrm>
          <a:prstGeom prst="rect">
            <a:avLst/>
          </a:prstGeom>
          <a:noFill/>
          <a:ln/>
        </p:spPr>
        <p:txBody>
          <a:bodyPr wrap="square" lIns="0" tIns="0" rIns="0" bIns="0" rtlCol="0" anchor="ctr"/>
          <a:lstStyle/>
          <a:p>
            <a:pPr algn="ctr" indent="0" marL="0">
              <a:buNone/>
            </a:pPr>
            <a:r>
              <a:rPr lang="en-US" sz="4000" b="1" dirty="0">
                <a:solidFill>
                  <a:srgbClr val="0F766E"/>
                </a:solidFill>
              </a:rPr>
              <a:t>5 000</a:t>
            </a:r>
            <a:endParaRPr lang="en-US" sz="4000" dirty="0"/>
          </a:p>
        </p:txBody>
      </p:sp>
      <p:sp>
        <p:nvSpPr>
          <p:cNvPr id="9" name="Text 7"/>
          <p:cNvSpPr txBox="1"/>
          <p:nvPr/>
        </p:nvSpPr>
        <p:spPr>
          <a:xfrm>
            <a:off x="4297680" y="2395728"/>
            <a:ext cx="3520440" cy="411480"/>
          </a:xfrm>
          <a:prstGeom prst="rect">
            <a:avLst/>
          </a:prstGeom>
          <a:noFill/>
          <a:ln/>
        </p:spPr>
        <p:txBody>
          <a:bodyPr wrap="square" lIns="0" tIns="0" rIns="0" bIns="0" rtlCol="0" anchor="ctr"/>
          <a:lstStyle/>
          <a:p>
            <a:pPr algn="ctr" indent="0" marL="0">
              <a:buNone/>
            </a:pPr>
            <a:r>
              <a:rPr lang="en-US" sz="1500" dirty="0">
                <a:solidFill>
                  <a:srgbClr val="0B2545"/>
                </a:solidFill>
              </a:rPr>
              <a:t>appels vidéo simultanés (cible)</a:t>
            </a:r>
            <a:endParaRPr lang="en-US" sz="1500" dirty="0"/>
          </a:p>
        </p:txBody>
      </p:sp>
      <p:sp>
        <p:nvSpPr>
          <p:cNvPr id="10" name="Shape 8"/>
          <p:cNvSpPr/>
          <p:nvPr/>
        </p:nvSpPr>
        <p:spPr>
          <a:xfrm>
            <a:off x="8046720" y="1554480"/>
            <a:ext cx="3520440" cy="1371600"/>
          </a:xfrm>
          <a:prstGeom prst="rect">
            <a:avLst/>
          </a:prstGeom>
          <a:solidFill>
            <a:srgbClr val="E6F4F2"/>
          </a:solidFill>
          <a:ln w="12700">
            <a:solidFill>
              <a:srgbClr val="0F766E"/>
            </a:solidFill>
            <a:prstDash val="solid"/>
          </a:ln>
        </p:spPr>
      </p:sp>
      <p:sp>
        <p:nvSpPr>
          <p:cNvPr id="11" name="Text 9"/>
          <p:cNvSpPr txBox="1"/>
          <p:nvPr/>
        </p:nvSpPr>
        <p:spPr>
          <a:xfrm>
            <a:off x="8046720" y="1627632"/>
            <a:ext cx="3520440" cy="777240"/>
          </a:xfrm>
          <a:prstGeom prst="rect">
            <a:avLst/>
          </a:prstGeom>
          <a:noFill/>
          <a:ln/>
        </p:spPr>
        <p:txBody>
          <a:bodyPr wrap="square" lIns="0" tIns="0" rIns="0" bIns="0" rtlCol="0" anchor="ctr"/>
          <a:lstStyle/>
          <a:p>
            <a:pPr algn="ctr" indent="0" marL="0">
              <a:buNone/>
            </a:pPr>
            <a:r>
              <a:rPr lang="en-US" sz="4000" b="1" dirty="0">
                <a:solidFill>
                  <a:srgbClr val="0F766E"/>
                </a:solidFill>
              </a:rPr>
              <a:t>1 000</a:t>
            </a:r>
            <a:endParaRPr lang="en-US" sz="4000" dirty="0"/>
          </a:p>
        </p:txBody>
      </p:sp>
      <p:sp>
        <p:nvSpPr>
          <p:cNvPr id="12" name="Text 10"/>
          <p:cNvSpPr txBox="1"/>
          <p:nvPr/>
        </p:nvSpPr>
        <p:spPr>
          <a:xfrm>
            <a:off x="8046720" y="2395728"/>
            <a:ext cx="3520440" cy="411480"/>
          </a:xfrm>
          <a:prstGeom prst="rect">
            <a:avLst/>
          </a:prstGeom>
          <a:noFill/>
          <a:ln/>
        </p:spPr>
        <p:txBody>
          <a:bodyPr wrap="square" lIns="0" tIns="0" rIns="0" bIns="0" rtlCol="0" anchor="ctr"/>
          <a:lstStyle/>
          <a:p>
            <a:pPr algn="ctr" indent="0" marL="0">
              <a:buNone/>
            </a:pPr>
            <a:r>
              <a:rPr lang="en-US" sz="1500" dirty="0">
                <a:solidFill>
                  <a:srgbClr val="0B2545"/>
                </a:solidFill>
              </a:rPr>
              <a:t>requêtes / seconde (cible)</a:t>
            </a:r>
            <a:endParaRPr lang="en-US" sz="1500" dirty="0"/>
          </a:p>
        </p:txBody>
      </p:sp>
      <p:sp>
        <p:nvSpPr>
          <p:cNvPr id="13" name="Text 11"/>
          <p:cNvSpPr txBox="1"/>
          <p:nvPr/>
        </p:nvSpPr>
        <p:spPr>
          <a:xfrm>
            <a:off x="548640" y="3200400"/>
            <a:ext cx="5486400" cy="411480"/>
          </a:xfrm>
          <a:prstGeom prst="rect">
            <a:avLst/>
          </a:prstGeom>
          <a:noFill/>
          <a:ln/>
        </p:spPr>
        <p:txBody>
          <a:bodyPr wrap="square" lIns="0" tIns="0" rIns="0" bIns="0" rtlCol="0" anchor="ctr"/>
          <a:lstStyle/>
          <a:p>
            <a:pPr indent="0" marL="0">
              <a:buNone/>
            </a:pPr>
            <a:r>
              <a:rPr lang="en-US" sz="1800" b="1" dirty="0">
                <a:solidFill>
                  <a:srgbClr val="0B2545"/>
                </a:solidFill>
              </a:rPr>
              <a:t>Comment le système s'adapte</a:t>
            </a:r>
            <a:endParaRPr lang="en-US" sz="1800" dirty="0"/>
          </a:p>
        </p:txBody>
      </p:sp>
      <p:sp>
        <p:nvSpPr>
          <p:cNvPr id="14" name="Text 12"/>
          <p:cNvSpPr txBox="1"/>
          <p:nvPr/>
        </p:nvSpPr>
        <p:spPr>
          <a:xfrm>
            <a:off x="548640" y="3657600"/>
            <a:ext cx="5760720" cy="26517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0B2545"/>
                </a:solidFill>
              </a:rPr>
              <a:t>Vidéo via Chime SDK : ~15 Gbit/s en pointe ne passent jamais par nos serveurs</a:t>
            </a:r>
            <a:endParaRPr lang="en-US" sz="1500" dirty="0"/>
          </a:p>
          <a:p>
            <a:pPr marL="342900" indent="-342900">
              <a:spcAft>
                <a:spcPts val="700"/>
              </a:spcAft>
              <a:buSzPct val="100000"/>
              <a:buChar char="•"/>
            </a:pPr>
            <a:r>
              <a:rPr lang="en-US" sz="1500" dirty="0">
                <a:solidFill>
                  <a:srgbClr val="0B2545"/>
                </a:solidFill>
              </a:rPr>
              <a:t>Les services se dupliquent automatiquement sous charge (Kubernetes)</a:t>
            </a:r>
            <a:endParaRPr lang="en-US" sz="1500" dirty="0"/>
          </a:p>
          <a:p>
            <a:pPr marL="342900" indent="-342900">
              <a:spcAft>
                <a:spcPts val="700"/>
              </a:spcAft>
              <a:buSzPct val="100000"/>
              <a:buChar char="•"/>
            </a:pPr>
            <a:r>
              <a:rPr lang="en-US" sz="1500" dirty="0">
                <a:solidFill>
                  <a:srgbClr val="0B2545"/>
                </a:solidFill>
              </a:rPr>
              <a:t>Répliques en lecture + Redis soulagent la base</a:t>
            </a:r>
            <a:endParaRPr lang="en-US" sz="1500" dirty="0"/>
          </a:p>
          <a:p>
            <a:pPr marL="342900" indent="-342900">
              <a:spcAft>
                <a:spcPts val="700"/>
              </a:spcAft>
              <a:buSzPct val="100000"/>
              <a:buChar char="•"/>
            </a:pPr>
            <a:r>
              <a:rPr lang="en-US" sz="1500" dirty="0">
                <a:solidFill>
                  <a:srgbClr val="0B2545"/>
                </a:solidFill>
              </a:rPr>
              <a:t>Les fichiers vont directement de l'application à S3</a:t>
            </a:r>
            <a:endParaRPr lang="en-US" sz="1500" dirty="0"/>
          </a:p>
          <a:p>
            <a:pPr marL="342900" indent="-342900">
              <a:spcAft>
                <a:spcPts val="700"/>
              </a:spcAft>
              <a:buSzPct val="100000"/>
              <a:buChar char="•"/>
            </a:pPr>
            <a:r>
              <a:rPr lang="en-US" sz="1500" dirty="0">
                <a:solidFill>
                  <a:srgbClr val="0B2545"/>
                </a:solidFill>
              </a:rPr>
              <a:t>Capacité ajoutée avant les pics connus</a:t>
            </a:r>
            <a:endParaRPr lang="en-US" sz="1500" dirty="0"/>
          </a:p>
        </p:txBody>
      </p:sp>
      <p:sp>
        <p:nvSpPr>
          <p:cNvPr id="15" name="Text 13"/>
          <p:cNvSpPr txBox="1"/>
          <p:nvPr/>
        </p:nvSpPr>
        <p:spPr>
          <a:xfrm>
            <a:off x="6675120" y="3200400"/>
            <a:ext cx="4937760" cy="411480"/>
          </a:xfrm>
          <a:prstGeom prst="rect">
            <a:avLst/>
          </a:prstGeom>
          <a:noFill/>
          <a:ln/>
        </p:spPr>
        <p:txBody>
          <a:bodyPr wrap="square" lIns="0" tIns="0" rIns="0" bIns="0" rtlCol="0" anchor="ctr"/>
          <a:lstStyle/>
          <a:p>
            <a:pPr indent="0" marL="0">
              <a:buNone/>
            </a:pPr>
            <a:r>
              <a:rPr lang="en-US" sz="1800" b="1" dirty="0">
                <a:solidFill>
                  <a:srgbClr val="0B2545"/>
                </a:solidFill>
              </a:rPr>
              <a:t>Sous pression</a:t>
            </a:r>
            <a:endParaRPr lang="en-US" sz="1800" dirty="0"/>
          </a:p>
        </p:txBody>
      </p:sp>
      <p:sp>
        <p:nvSpPr>
          <p:cNvPr id="16" name="Shape 14"/>
          <p:cNvSpPr/>
          <p:nvPr/>
        </p:nvSpPr>
        <p:spPr>
          <a:xfrm>
            <a:off x="6675120" y="3703320"/>
            <a:ext cx="4983480" cy="731520"/>
          </a:xfrm>
          <a:prstGeom prst="rect">
            <a:avLst/>
          </a:prstGeom>
          <a:solidFill>
            <a:srgbClr val="FDEDEC"/>
          </a:solidFill>
          <a:ln w="19050">
            <a:solidFill>
              <a:srgbClr val="C0392B"/>
            </a:solidFill>
            <a:prstDash val="solid"/>
          </a:ln>
        </p:spPr>
      </p:sp>
      <p:sp>
        <p:nvSpPr>
          <p:cNvPr id="17" name="Text 15"/>
          <p:cNvSpPr txBox="1"/>
          <p:nvPr/>
        </p:nvSpPr>
        <p:spPr>
          <a:xfrm>
            <a:off x="6812280" y="3703320"/>
            <a:ext cx="4754880" cy="731520"/>
          </a:xfrm>
          <a:prstGeom prst="rect">
            <a:avLst/>
          </a:prstGeom>
          <a:noFill/>
          <a:ln/>
        </p:spPr>
        <p:txBody>
          <a:bodyPr wrap="square" lIns="0" tIns="0" rIns="0" bIns="0" rtlCol="0" anchor="ctr"/>
          <a:lstStyle/>
          <a:p>
            <a:pPr indent="0" marL="0">
              <a:buNone/>
            </a:pPr>
            <a:r>
              <a:rPr lang="en-US" sz="1400" dirty="0">
                <a:solidFill>
                  <a:srgbClr val="0B2545"/>
                </a:solidFill>
              </a:rPr>
              <a:t>Dossiers &amp; urgence gardent une capacité réservée · reprise en 15 min</a:t>
            </a:r>
            <a:endParaRPr lang="en-US" sz="1400" dirty="0"/>
          </a:p>
        </p:txBody>
      </p:sp>
      <p:sp>
        <p:nvSpPr>
          <p:cNvPr id="18" name="Shape 16"/>
          <p:cNvSpPr/>
          <p:nvPr/>
        </p:nvSpPr>
        <p:spPr>
          <a:xfrm>
            <a:off x="6675120" y="4572000"/>
            <a:ext cx="4983480" cy="731520"/>
          </a:xfrm>
          <a:prstGeom prst="rect">
            <a:avLst/>
          </a:prstGeom>
          <a:solidFill>
            <a:srgbClr val="FEF5E7"/>
          </a:solidFill>
          <a:ln w="19050">
            <a:solidFill>
              <a:srgbClr val="B9770E"/>
            </a:solidFill>
            <a:prstDash val="solid"/>
          </a:ln>
        </p:spPr>
      </p:sp>
      <p:sp>
        <p:nvSpPr>
          <p:cNvPr id="19" name="Text 17"/>
          <p:cNvSpPr txBox="1"/>
          <p:nvPr/>
        </p:nvSpPr>
        <p:spPr>
          <a:xfrm>
            <a:off x="6812280" y="4572000"/>
            <a:ext cx="4754880" cy="731520"/>
          </a:xfrm>
          <a:prstGeom prst="rect">
            <a:avLst/>
          </a:prstGeom>
          <a:noFill/>
          <a:ln/>
        </p:spPr>
        <p:txBody>
          <a:bodyPr wrap="square" lIns="0" tIns="0" rIns="0" bIns="0" rtlCol="0" anchor="ctr"/>
          <a:lstStyle/>
          <a:p>
            <a:pPr indent="0" marL="0">
              <a:buNone/>
            </a:pPr>
            <a:r>
              <a:rPr lang="en-US" sz="1400" dirty="0">
                <a:solidFill>
                  <a:srgbClr val="0B2545"/>
                </a:solidFill>
              </a:rPr>
              <a:t>Planification, vidéo, prescriptions · reprise en 1 h</a:t>
            </a:r>
            <a:endParaRPr lang="en-US" sz="1400" dirty="0"/>
          </a:p>
        </p:txBody>
      </p:sp>
      <p:sp>
        <p:nvSpPr>
          <p:cNvPr id="20" name="Shape 18"/>
          <p:cNvSpPr/>
          <p:nvPr/>
        </p:nvSpPr>
        <p:spPr>
          <a:xfrm>
            <a:off x="6675120" y="5440680"/>
            <a:ext cx="4983480" cy="731520"/>
          </a:xfrm>
          <a:prstGeom prst="rect">
            <a:avLst/>
          </a:prstGeom>
          <a:solidFill>
            <a:srgbClr val="EEF1F4"/>
          </a:solidFill>
          <a:ln w="19050">
            <a:solidFill>
              <a:srgbClr val="5D6D7E"/>
            </a:solidFill>
            <a:prstDash val="solid"/>
          </a:ln>
        </p:spPr>
      </p:sp>
      <p:sp>
        <p:nvSpPr>
          <p:cNvPr id="21" name="Text 19"/>
          <p:cNvSpPr txBox="1"/>
          <p:nvPr/>
        </p:nvSpPr>
        <p:spPr>
          <a:xfrm>
            <a:off x="6812280" y="5440680"/>
            <a:ext cx="4754880" cy="731520"/>
          </a:xfrm>
          <a:prstGeom prst="rect">
            <a:avLst/>
          </a:prstGeom>
          <a:noFill/>
          <a:ln/>
        </p:spPr>
        <p:txBody>
          <a:bodyPr wrap="square" lIns="0" tIns="0" rIns="0" bIns="0" rtlCol="0" anchor="ctr"/>
          <a:lstStyle/>
          <a:p>
            <a:pPr indent="0" marL="0">
              <a:buNone/>
            </a:pPr>
            <a:r>
              <a:rPr lang="en-US" sz="1400" dirty="0">
                <a:solidFill>
                  <a:srgbClr val="0B2545"/>
                </a:solidFill>
              </a:rPr>
              <a:t>Notifications, facturation, stock attendent en file · reprise en 4 h</a:t>
            </a:r>
            <a:endParaRPr lang="en-US" sz="1400" dirty="0"/>
          </a:p>
        </p:txBody>
      </p:sp>
      <p:sp>
        <p:nvSpPr>
          <p:cNvPr id="22" name="Text 20"/>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0B2545"/>
                </a:solidFill>
                <a:latin typeface="Calibri" pitchFamily="34" charset="0"/>
                <a:ea typeface="Calibri" pitchFamily="34" charset="-122"/>
                <a:cs typeface="Calibri" pitchFamily="34" charset="-120"/>
              </a:rPr>
              <a:t>Compromis</a:t>
            </a:r>
            <a:endParaRPr lang="en-US" sz="3200" dirty="0"/>
          </a:p>
        </p:txBody>
      </p:sp>
      <p:sp>
        <p:nvSpPr>
          <p:cNvPr id="3" name="Text 1"/>
          <p:cNvSpPr txBox="1"/>
          <p:nvPr/>
        </p:nvSpPr>
        <p:spPr>
          <a:xfrm>
            <a:off x="548640" y="987552"/>
            <a:ext cx="11094415"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Chaque choix a un prix — voici ce que nous avons accepté</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474720"/>
                <a:gridCol w="3108960"/>
                <a:gridCol w="4480560"/>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Notre choix</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 lieu de</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 prix accepté</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0B2545"/>
                    </a:solidFill>
                  </a:tcPr>
                </a:tc>
              </a:tr>
              <a:tr h="621792">
                <a:tc>
                  <a:txBody>
                    <a:bodyPr/>
                    <a:lstStyle/>
                    <a:p>
                      <a:pPr indent="0" marL="0">
                        <a:buNone/>
                      </a:pPr>
                      <a:r>
                        <a:rPr lang="en-US" sz="1600" b="1" dirty="0">
                          <a:solidFill>
                            <a:srgbClr val="0F766E"/>
                          </a:solidFill>
                          <a:latin typeface="Calibri" pitchFamily="34" charset="0"/>
                          <a:ea typeface="Calibri" pitchFamily="34" charset="-122"/>
                          <a:cs typeface="Calibri" pitchFamily="34" charset="-120"/>
                        </a:rPr>
                        <a:t>8 services</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indent="0" marL="0">
                        <a:buNone/>
                      </a:pPr>
                      <a:r>
                        <a:rPr lang="en-US" sz="1600" dirty="0">
                          <a:solidFill>
                            <a:srgbClr val="5B6770"/>
                          </a:solidFill>
                          <a:latin typeface="Calibri" pitchFamily="34" charset="0"/>
                          <a:ea typeface="Calibri" pitchFamily="34" charset="-122"/>
                          <a:cs typeface="Calibri" pitchFamily="34" charset="-120"/>
                        </a:rPr>
                        <a:t>Une seule application</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indent="0" marL="0">
                        <a:buNone/>
                      </a:pPr>
                      <a:r>
                        <a:rPr lang="en-US" sz="1600" dirty="0">
                          <a:solidFill>
                            <a:srgbClr val="0B2545"/>
                          </a:solidFill>
                          <a:latin typeface="Calibri" pitchFamily="34" charset="0"/>
                          <a:ea typeface="Calibri" pitchFamily="34" charset="-122"/>
                          <a:cs typeface="Calibri" pitchFamily="34" charset="-120"/>
                        </a:rPr>
                        <a:t>Plus d'éléments à gérer, mais pannes contenues</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0F766E"/>
                          </a:solidFill>
                          <a:latin typeface="Calibri" pitchFamily="34" charset="0"/>
                          <a:ea typeface="Calibri" pitchFamily="34" charset="-122"/>
                          <a:cs typeface="Calibri" pitchFamily="34" charset="-120"/>
                        </a:rPr>
                        <a:t>Résumé d'urgence préparé</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c>
                  <a:txBody>
                    <a:bodyPr/>
                    <a:lstStyle/>
                    <a:p>
                      <a:pPr indent="0" marL="0">
                        <a:buNone/>
                      </a:pPr>
                      <a:r>
                        <a:rPr lang="en-US" sz="1600" dirty="0">
                          <a:solidFill>
                            <a:srgbClr val="5B6770"/>
                          </a:solidFill>
                          <a:latin typeface="Calibri" pitchFamily="34" charset="0"/>
                          <a:ea typeface="Calibri" pitchFamily="34" charset="-122"/>
                          <a:cs typeface="Calibri" pitchFamily="34" charset="-120"/>
                        </a:rPr>
                        <a:t>Lire tout le dossier en direct</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c>
                  <a:txBody>
                    <a:bodyPr/>
                    <a:lstStyle/>
                    <a:p>
                      <a:pPr indent="0" marL="0">
                        <a:buNone/>
                      </a:pPr>
                      <a:r>
                        <a:rPr lang="en-US" sz="1600" dirty="0">
                          <a:solidFill>
                            <a:srgbClr val="0B2545"/>
                          </a:solidFill>
                          <a:latin typeface="Calibri" pitchFamily="34" charset="0"/>
                          <a:ea typeface="Calibri" pitchFamily="34" charset="-122"/>
                          <a:cs typeface="Calibri" pitchFamily="34" charset="-120"/>
                        </a:rPr>
                        <a:t>Quelques secondes de retard possible, mais instantané et résilient</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r>
              <a:tr h="621792">
                <a:tc>
                  <a:txBody>
                    <a:bodyPr/>
                    <a:lstStyle/>
                    <a:p>
                      <a:pPr indent="0" marL="0">
                        <a:buNone/>
                      </a:pPr>
                      <a:r>
                        <a:rPr lang="en-US" sz="1600" b="1" dirty="0">
                          <a:solidFill>
                            <a:srgbClr val="0F766E"/>
                          </a:solidFill>
                          <a:latin typeface="Calibri" pitchFamily="34" charset="0"/>
                          <a:ea typeface="Calibri" pitchFamily="34" charset="-122"/>
                          <a:cs typeface="Calibri" pitchFamily="34" charset="-120"/>
                        </a:rPr>
                        <a:t>Bus d'événements</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indent="0" marL="0">
                        <a:buNone/>
                      </a:pPr>
                      <a:r>
                        <a:rPr lang="en-US" sz="1600" dirty="0">
                          <a:solidFill>
                            <a:srgbClr val="5B6770"/>
                          </a:solidFill>
                          <a:latin typeface="Calibri" pitchFamily="34" charset="0"/>
                          <a:ea typeface="Calibri" pitchFamily="34" charset="-122"/>
                          <a:cs typeface="Calibri" pitchFamily="34" charset="-120"/>
                        </a:rPr>
                        <a:t>Appels directs partout</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indent="0" marL="0">
                        <a:buNone/>
                      </a:pPr>
                      <a:r>
                        <a:rPr lang="en-US" sz="1600" dirty="0">
                          <a:solidFill>
                            <a:srgbClr val="0B2545"/>
                          </a:solidFill>
                          <a:latin typeface="Calibri" pitchFamily="34" charset="0"/>
                          <a:ea typeface="Calibri" pitchFamily="34" charset="-122"/>
                          <a:cs typeface="Calibri" pitchFamily="34" charset="-120"/>
                        </a:rPr>
                        <a:t>Certaines actions ont lieu un instant plus tard</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0F766E"/>
                          </a:solidFill>
                          <a:latin typeface="Calibri" pitchFamily="34" charset="0"/>
                          <a:ea typeface="Calibri" pitchFamily="34" charset="-122"/>
                          <a:cs typeface="Calibri" pitchFamily="34" charset="-120"/>
                        </a:rPr>
                        <a:t>Vidéo gérée (Chime)</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c>
                  <a:txBody>
                    <a:bodyPr/>
                    <a:lstStyle/>
                    <a:p>
                      <a:pPr indent="0" marL="0">
                        <a:buNone/>
                      </a:pPr>
                      <a:r>
                        <a:rPr lang="en-US" sz="1600" dirty="0">
                          <a:solidFill>
                            <a:srgbClr val="5B6770"/>
                          </a:solidFill>
                          <a:latin typeface="Calibri" pitchFamily="34" charset="0"/>
                          <a:ea typeface="Calibri" pitchFamily="34" charset="-122"/>
                          <a:cs typeface="Calibri" pitchFamily="34" charset="-120"/>
                        </a:rPr>
                        <a:t>Nos propres serveurs vidéo</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c>
                  <a:txBody>
                    <a:bodyPr/>
                    <a:lstStyle/>
                    <a:p>
                      <a:pPr indent="0" marL="0">
                        <a:buNone/>
                      </a:pPr>
                      <a:r>
                        <a:rPr lang="en-US" sz="1600" dirty="0">
                          <a:solidFill>
                            <a:srgbClr val="0B2545"/>
                          </a:solidFill>
                          <a:latin typeface="Calibri" pitchFamily="34" charset="0"/>
                          <a:ea typeface="Calibri" pitchFamily="34" charset="-122"/>
                          <a:cs typeface="Calibri" pitchFamily="34" charset="-120"/>
                        </a:rPr>
                        <a:t>Paiement à la minute, aucun serveur à gérer</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r>
              <a:tr h="621792">
                <a:tc>
                  <a:txBody>
                    <a:bodyPr/>
                    <a:lstStyle/>
                    <a:p>
                      <a:pPr indent="0" marL="0">
                        <a:buNone/>
                      </a:pPr>
                      <a:r>
                        <a:rPr lang="en-US" sz="1600" b="1" dirty="0">
                          <a:solidFill>
                            <a:srgbClr val="0F766E"/>
                          </a:solidFill>
                          <a:latin typeface="Calibri" pitchFamily="34" charset="0"/>
                          <a:ea typeface="Calibri" pitchFamily="34" charset="-122"/>
                          <a:cs typeface="Calibri" pitchFamily="34" charset="-120"/>
                        </a:rPr>
                        <a:t>Une base, un schéma par service</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indent="0" marL="0">
                        <a:buNone/>
                      </a:pPr>
                      <a:r>
                        <a:rPr lang="en-US" sz="1600" dirty="0">
                          <a:solidFill>
                            <a:srgbClr val="5B6770"/>
                          </a:solidFill>
                          <a:latin typeface="Calibri" pitchFamily="34" charset="0"/>
                          <a:ea typeface="Calibri" pitchFamily="34" charset="-122"/>
                          <a:cs typeface="Calibri" pitchFamily="34" charset="-120"/>
                        </a:rPr>
                        <a:t>Une base par service</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c>
                  <a:txBody>
                    <a:bodyPr/>
                    <a:lstStyle/>
                    <a:p>
                      <a:pPr indent="0" marL="0">
                        <a:buNone/>
                      </a:pPr>
                      <a:r>
                        <a:rPr lang="en-US" sz="1600" dirty="0">
                          <a:solidFill>
                            <a:srgbClr val="0B2545"/>
                          </a:solidFill>
                          <a:latin typeface="Calibri" pitchFamily="34" charset="0"/>
                          <a:ea typeface="Calibri" pitchFamily="34" charset="-122"/>
                          <a:cs typeface="Calibri" pitchFamily="34" charset="-120"/>
                        </a:rPr>
                        <a:t>Plus simple ; à séparer plus tard si besoin</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0F766E"/>
                          </a:solidFill>
                          <a:latin typeface="Calibri" pitchFamily="34" charset="0"/>
                          <a:ea typeface="Calibri" pitchFamily="34" charset="-122"/>
                          <a:cs typeface="Calibri" pitchFamily="34" charset="-120"/>
                        </a:rPr>
                        <a:t>Chiffrement des champs</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c>
                  <a:txBody>
                    <a:bodyPr/>
                    <a:lstStyle/>
                    <a:p>
                      <a:pPr indent="0" marL="0">
                        <a:buNone/>
                      </a:pPr>
                      <a:r>
                        <a:rPr lang="en-US" sz="1600" dirty="0">
                          <a:solidFill>
                            <a:srgbClr val="5B6770"/>
                          </a:solidFill>
                          <a:latin typeface="Calibri" pitchFamily="34" charset="0"/>
                          <a:ea typeface="Calibri" pitchFamily="34" charset="-122"/>
                          <a:cs typeface="Calibri" pitchFamily="34" charset="-120"/>
                        </a:rPr>
                        <a:t>Chiffrement de la base seul</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c>
                  <a:txBody>
                    <a:bodyPr/>
                    <a:lstStyle/>
                    <a:p>
                      <a:pPr indent="0" marL="0">
                        <a:buNone/>
                      </a:pPr>
                      <a:r>
                        <a:rPr lang="en-US" sz="1600" dirty="0">
                          <a:solidFill>
                            <a:srgbClr val="0B2545"/>
                          </a:solidFill>
                          <a:latin typeface="Calibri" pitchFamily="34" charset="0"/>
                          <a:ea typeface="Calibri" pitchFamily="34" charset="-122"/>
                          <a:cs typeface="Calibri" pitchFamily="34" charset="-120"/>
                        </a:rPr>
                        <a:t>Pas de recherche libre sur ces champs</a:t>
                      </a:r>
                      <a:endParaRPr lang="en-US" sz="1600" dirty="0">
                        <a:latin typeface="Calibri" charset="0"/>
                        <a:ea typeface="Calibri" charset="0"/>
                        <a:cs typeface="Calibri" charset="0"/>
                      </a:endParaRPr>
                    </a:p>
                  </a:txBody>
                  <a:tcPr marL="91440" marR="91440" marT="45720" marB="45720" anchor="ctr">
                    <a:lnL w="6350" cap="flat" cmpd="sng" algn="ctr">
                      <a:solidFill>
                        <a:srgbClr val="D5DBE0"/>
                      </a:solidFill>
                      <a:prstDash val="solid"/>
                      <a:round/>
                      <a:headEnd type="none" w="med" len="med"/>
                      <a:tailEnd type="none" w="med" len="med"/>
                    </a:lnL>
                    <a:lnR w="6350" cap="flat" cmpd="sng" algn="ctr">
                      <a:solidFill>
                        <a:srgbClr val="D5DBE0"/>
                      </a:solidFill>
                      <a:prstDash val="solid"/>
                      <a:round/>
                      <a:headEnd type="none" w="med" len="med"/>
                      <a:tailEnd type="none" w="med" len="med"/>
                    </a:lnR>
                    <a:lnT w="6350" cap="flat" cmpd="sng" algn="ctr">
                      <a:solidFill>
                        <a:srgbClr val="D5DBE0"/>
                      </a:solidFill>
                      <a:prstDash val="solid"/>
                      <a:round/>
                      <a:headEnd type="none" w="med" len="med"/>
                      <a:tailEnd type="none" w="med" len="med"/>
                    </a:lnT>
                    <a:lnB w="6350" cap="flat" cmpd="sng" algn="ctr">
                      <a:solidFill>
                        <a:srgbClr val="D5DBE0"/>
                      </a:solidFill>
                      <a:prstDash val="solid"/>
                      <a:round/>
                      <a:headEnd type="none" w="med" len="med"/>
                      <a:tailEnd type="none" w="med" len="med"/>
                    </a:lnB>
                    <a:solidFill>
                      <a:srgbClr val="F4F6F8"/>
                    </a:solidFill>
                  </a:tcPr>
                </a:tc>
              </a:tr>
            </a:tbl>
          </a:graphicData>
        </a:graphic>
      </p:graphicFrame>
      <p:sp>
        <p:nvSpPr>
          <p:cNvPr id="5" name="Text 2"/>
          <p:cNvSpPr txBox="1"/>
          <p:nvPr/>
        </p:nvSpPr>
        <p:spPr>
          <a:xfrm>
            <a:off x="11368735" y="6446520"/>
            <a:ext cx="365760" cy="274320"/>
          </a:xfrm>
          <a:prstGeom prst="rect">
            <a:avLst/>
          </a:prstGeom>
          <a:noFill/>
          <a:ln/>
        </p:spPr>
        <p:txBody>
          <a:bodyPr wrap="square" lIns="0" tIns="0" rIns="0" bIns="0" rtlCol="0" anchor="ctr"/>
          <a:lstStyle/>
          <a:p>
            <a:pPr algn="r" indent="0" marL="0">
              <a:buNone/>
            </a:pPr>
            <a:r>
              <a:rPr lang="en-US" sz="1000" dirty="0">
                <a:solidFill>
                  <a:srgbClr val="5B6770"/>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326880" y="3840480"/>
            <a:ext cx="4206240" cy="4206240"/>
          </a:xfrm>
          <a:prstGeom prst="ellipse">
            <a:avLst/>
          </a:prstGeom>
          <a:solidFill>
            <a:srgbClr val="0F766E"/>
          </a:solidFill>
          <a:ln w="12700">
            <a:solidFill>
              <a:srgbClr val="0F766E"/>
            </a:solidFill>
            <a:prstDash val="solid"/>
          </a:ln>
        </p:spPr>
      </p:sp>
      <p:sp>
        <p:nvSpPr>
          <p:cNvPr id="3" name="Text 1"/>
          <p:cNvSpPr txBox="1"/>
          <p:nvPr/>
        </p:nvSpPr>
        <p:spPr>
          <a:xfrm>
            <a:off x="640080" y="548640"/>
            <a:ext cx="9144000" cy="822960"/>
          </a:xfrm>
          <a:prstGeom prst="rect">
            <a:avLst/>
          </a:prstGeom>
          <a:noFill/>
          <a:ln/>
        </p:spPr>
        <p:txBody>
          <a:bodyPr wrap="square" lIns="0" tIns="0" rIns="0" bIns="0" rtlCol="0" anchor="ctr"/>
          <a:lstStyle/>
          <a:p>
            <a:pPr indent="0" marL="0">
              <a:buNone/>
            </a:pPr>
            <a:r>
              <a:rPr lang="en-US" sz="4000" b="1" dirty="0">
                <a:solidFill>
                  <a:srgbClr val="FFFFFF"/>
                </a:solidFill>
              </a:rPr>
              <a:t>À retenir</a:t>
            </a:r>
            <a:endParaRPr lang="en-US" sz="4000" dirty="0"/>
          </a:p>
        </p:txBody>
      </p:sp>
      <p:sp>
        <p:nvSpPr>
          <p:cNvPr id="4" name="Shape 2"/>
          <p:cNvSpPr/>
          <p:nvPr/>
        </p:nvSpPr>
        <p:spPr>
          <a:xfrm>
            <a:off x="640080" y="1645920"/>
            <a:ext cx="685800" cy="685800"/>
          </a:xfrm>
          <a:prstGeom prst="ellipse">
            <a:avLst/>
          </a:prstGeom>
          <a:solidFill>
            <a:srgbClr val="0F766E"/>
          </a:solidFill>
          <a:ln w="12700">
            <a:solidFill>
              <a:srgbClr val="0F766E"/>
            </a:solidFill>
            <a:prstDash val="solid"/>
          </a:ln>
        </p:spPr>
      </p:sp>
      <p:pic>
        <p:nvPicPr>
          <p:cNvPr id="5" name="Image 0" descr="preencoded.png">    </p:cNvPr>
          <p:cNvPicPr>
            <a:picLocks noChangeAspect="1"/>
          </p:cNvPicPr>
          <p:nvPr/>
        </p:nvPicPr>
        <p:blipFill>
          <a:blip r:embed="rId1"/>
          <a:stretch>
            <a:fillRect/>
          </a:stretch>
        </p:blipFill>
        <p:spPr>
          <a:xfrm>
            <a:off x="804672" y="1810512"/>
            <a:ext cx="356616" cy="356616"/>
          </a:xfrm>
          <a:prstGeom prst="rect">
            <a:avLst/>
          </a:prstGeom>
        </p:spPr>
      </p:pic>
      <p:sp>
        <p:nvSpPr>
          <p:cNvPr id="6" name="Text 3"/>
          <p:cNvSpPr txBox="1"/>
          <p:nvPr/>
        </p:nvSpPr>
        <p:spPr>
          <a:xfrm>
            <a:off x="1554480" y="1627632"/>
            <a:ext cx="7772400" cy="384048"/>
          </a:xfrm>
          <a:prstGeom prst="rect">
            <a:avLst/>
          </a:prstGeom>
          <a:noFill/>
          <a:ln/>
        </p:spPr>
        <p:txBody>
          <a:bodyPr wrap="square" lIns="0" tIns="0" rIns="0" bIns="0" rtlCol="0" anchor="ctr"/>
          <a:lstStyle/>
          <a:p>
            <a:pPr indent="0" marL="0">
              <a:buNone/>
            </a:pPr>
            <a:r>
              <a:rPr lang="en-US" sz="1900" b="1" dirty="0">
                <a:solidFill>
                  <a:srgbClr val="FFFFFF"/>
                </a:solidFill>
              </a:rPr>
              <a:t>Des données protégées à chaque étape</a:t>
            </a:r>
            <a:endParaRPr lang="en-US" sz="1900" dirty="0"/>
          </a:p>
        </p:txBody>
      </p:sp>
      <p:sp>
        <p:nvSpPr>
          <p:cNvPr id="7" name="Text 4"/>
          <p:cNvSpPr txBox="1"/>
          <p:nvPr/>
        </p:nvSpPr>
        <p:spPr>
          <a:xfrm>
            <a:off x="1554480" y="2011680"/>
            <a:ext cx="7772400" cy="384048"/>
          </a:xfrm>
          <a:prstGeom prst="rect">
            <a:avLst/>
          </a:prstGeom>
          <a:noFill/>
          <a:ln/>
        </p:spPr>
        <p:txBody>
          <a:bodyPr wrap="square" lIns="0" tIns="0" rIns="0" bIns="0" rtlCol="0" anchor="ctr"/>
          <a:lstStyle/>
          <a:p>
            <a:pPr indent="0" marL="0">
              <a:buNone/>
            </a:pPr>
            <a:r>
              <a:rPr lang="en-US" sz="1400" dirty="0">
                <a:solidFill>
                  <a:srgbClr val="CADCFC"/>
                </a:solidFill>
              </a:rPr>
              <a:t>Chiffrées, jamais écrasées, visibles seulement par ceux qui en ont besoin.</a:t>
            </a:r>
            <a:endParaRPr lang="en-US" sz="1400" dirty="0"/>
          </a:p>
        </p:txBody>
      </p:sp>
      <p:sp>
        <p:nvSpPr>
          <p:cNvPr id="8" name="Shape 5"/>
          <p:cNvSpPr/>
          <p:nvPr/>
        </p:nvSpPr>
        <p:spPr>
          <a:xfrm>
            <a:off x="640080" y="2724912"/>
            <a:ext cx="685800" cy="685800"/>
          </a:xfrm>
          <a:prstGeom prst="ellipse">
            <a:avLst/>
          </a:prstGeom>
          <a:solidFill>
            <a:srgbClr val="0F766E"/>
          </a:solidFill>
          <a:ln w="12700">
            <a:solidFill>
              <a:srgbClr val="0F766E"/>
            </a:solidFill>
            <a:prstDash val="solid"/>
          </a:ln>
        </p:spPr>
      </p:sp>
      <p:pic>
        <p:nvPicPr>
          <p:cNvPr id="9" name="Image 1" descr="preencoded.png">    </p:cNvPr>
          <p:cNvPicPr>
            <a:picLocks noChangeAspect="1"/>
          </p:cNvPicPr>
          <p:nvPr/>
        </p:nvPicPr>
        <p:blipFill>
          <a:blip r:embed="rId2"/>
          <a:stretch>
            <a:fillRect/>
          </a:stretch>
        </p:blipFill>
        <p:spPr>
          <a:xfrm>
            <a:off x="804672" y="2889504"/>
            <a:ext cx="356616" cy="356616"/>
          </a:xfrm>
          <a:prstGeom prst="rect">
            <a:avLst/>
          </a:prstGeom>
        </p:spPr>
      </p:pic>
      <p:sp>
        <p:nvSpPr>
          <p:cNvPr id="10" name="Text 6"/>
          <p:cNvSpPr txBox="1"/>
          <p:nvPr/>
        </p:nvSpPr>
        <p:spPr>
          <a:xfrm>
            <a:off x="1554480" y="2706624"/>
            <a:ext cx="7772400" cy="384048"/>
          </a:xfrm>
          <a:prstGeom prst="rect">
            <a:avLst/>
          </a:prstGeom>
          <a:noFill/>
          <a:ln/>
        </p:spPr>
        <p:txBody>
          <a:bodyPr wrap="square" lIns="0" tIns="0" rIns="0" bIns="0" rtlCol="0" anchor="ctr"/>
          <a:lstStyle/>
          <a:p>
            <a:pPr indent="0" marL="0">
              <a:buNone/>
            </a:pPr>
            <a:r>
              <a:rPr lang="en-US" sz="1900" b="1" dirty="0">
                <a:solidFill>
                  <a:srgbClr val="FFFFFF"/>
                </a:solidFill>
              </a:rPr>
              <a:t>Un accès d'urgence qui fonctionne</a:t>
            </a:r>
            <a:endParaRPr lang="en-US" sz="1900" dirty="0"/>
          </a:p>
        </p:txBody>
      </p:sp>
      <p:sp>
        <p:nvSpPr>
          <p:cNvPr id="11" name="Text 7"/>
          <p:cNvSpPr txBox="1"/>
          <p:nvPr/>
        </p:nvSpPr>
        <p:spPr>
          <a:xfrm>
            <a:off x="1554480" y="3090672"/>
            <a:ext cx="7772400" cy="384048"/>
          </a:xfrm>
          <a:prstGeom prst="rect">
            <a:avLst/>
          </a:prstGeom>
          <a:noFill/>
          <a:ln/>
        </p:spPr>
        <p:txBody>
          <a:bodyPr wrap="square" lIns="0" tIns="0" rIns="0" bIns="0" rtlCol="0" anchor="ctr"/>
          <a:lstStyle/>
          <a:p>
            <a:pPr indent="0" marL="0">
              <a:buNone/>
            </a:pPr>
            <a:r>
              <a:rPr lang="en-US" sz="1400" dirty="0">
                <a:solidFill>
                  <a:srgbClr val="CADCFC"/>
                </a:solidFill>
              </a:rPr>
              <a:t>Moins d'une seconde, tracé d'abord, limité, contrôlé.</a:t>
            </a:r>
            <a:endParaRPr lang="en-US" sz="1400" dirty="0"/>
          </a:p>
        </p:txBody>
      </p:sp>
      <p:sp>
        <p:nvSpPr>
          <p:cNvPr id="12" name="Shape 8"/>
          <p:cNvSpPr/>
          <p:nvPr/>
        </p:nvSpPr>
        <p:spPr>
          <a:xfrm>
            <a:off x="640080" y="3803904"/>
            <a:ext cx="685800" cy="685800"/>
          </a:xfrm>
          <a:prstGeom prst="ellipse">
            <a:avLst/>
          </a:prstGeom>
          <a:solidFill>
            <a:srgbClr val="0F766E"/>
          </a:solidFill>
          <a:ln w="12700">
            <a:solidFill>
              <a:srgbClr val="0F766E"/>
            </a:solidFill>
            <a:prstDash val="solid"/>
          </a:ln>
        </p:spPr>
      </p:sp>
      <p:pic>
        <p:nvPicPr>
          <p:cNvPr id="13" name="Image 2" descr="preencoded.png">    </p:cNvPr>
          <p:cNvPicPr>
            <a:picLocks noChangeAspect="1"/>
          </p:cNvPicPr>
          <p:nvPr/>
        </p:nvPicPr>
        <p:blipFill>
          <a:blip r:embed="rId3"/>
          <a:stretch>
            <a:fillRect/>
          </a:stretch>
        </p:blipFill>
        <p:spPr>
          <a:xfrm>
            <a:off x="804672" y="3968496"/>
            <a:ext cx="356616" cy="356616"/>
          </a:xfrm>
          <a:prstGeom prst="rect">
            <a:avLst/>
          </a:prstGeom>
        </p:spPr>
      </p:pic>
      <p:sp>
        <p:nvSpPr>
          <p:cNvPr id="14" name="Text 9"/>
          <p:cNvSpPr txBox="1"/>
          <p:nvPr/>
        </p:nvSpPr>
        <p:spPr>
          <a:xfrm>
            <a:off x="1554480" y="3785616"/>
            <a:ext cx="7772400" cy="384048"/>
          </a:xfrm>
          <a:prstGeom prst="rect">
            <a:avLst/>
          </a:prstGeom>
          <a:noFill/>
          <a:ln/>
        </p:spPr>
        <p:txBody>
          <a:bodyPr wrap="square" lIns="0" tIns="0" rIns="0" bIns="0" rtlCol="0" anchor="ctr"/>
          <a:lstStyle/>
          <a:p>
            <a:pPr indent="0" marL="0">
              <a:buNone/>
            </a:pPr>
            <a:r>
              <a:rPr lang="en-US" sz="1900" b="1" dirty="0">
                <a:solidFill>
                  <a:srgbClr val="FFFFFF"/>
                </a:solidFill>
              </a:rPr>
              <a:t>L'effort suit la priorité</a:t>
            </a:r>
            <a:endParaRPr lang="en-US" sz="1900" dirty="0"/>
          </a:p>
        </p:txBody>
      </p:sp>
      <p:sp>
        <p:nvSpPr>
          <p:cNvPr id="15" name="Text 10"/>
          <p:cNvSpPr txBox="1"/>
          <p:nvPr/>
        </p:nvSpPr>
        <p:spPr>
          <a:xfrm>
            <a:off x="1554480" y="4169664"/>
            <a:ext cx="7772400" cy="384048"/>
          </a:xfrm>
          <a:prstGeom prst="rect">
            <a:avLst/>
          </a:prstGeom>
          <a:noFill/>
          <a:ln/>
        </p:spPr>
        <p:txBody>
          <a:bodyPr wrap="square" lIns="0" tIns="0" rIns="0" bIns="0" rtlCol="0" anchor="ctr"/>
          <a:lstStyle/>
          <a:p>
            <a:pPr indent="0" marL="0">
              <a:buNone/>
            </a:pPr>
            <a:r>
              <a:rPr lang="en-US" sz="1400" dirty="0">
                <a:solidFill>
                  <a:srgbClr val="CADCFC"/>
                </a:solidFill>
              </a:rPr>
              <a:t>Robuste là où les soins en dépendent, simple là où on peut attendre.</a:t>
            </a:r>
            <a:endParaRPr lang="en-US" sz="1400" dirty="0"/>
          </a:p>
        </p:txBody>
      </p:sp>
      <p:sp>
        <p:nvSpPr>
          <p:cNvPr id="16" name="Shape 11"/>
          <p:cNvSpPr/>
          <p:nvPr/>
        </p:nvSpPr>
        <p:spPr>
          <a:xfrm>
            <a:off x="640080" y="4882896"/>
            <a:ext cx="685800" cy="685800"/>
          </a:xfrm>
          <a:prstGeom prst="ellipse">
            <a:avLst/>
          </a:prstGeom>
          <a:solidFill>
            <a:srgbClr val="0F766E"/>
          </a:solidFill>
          <a:ln w="12700">
            <a:solidFill>
              <a:srgbClr val="0F766E"/>
            </a:solidFill>
            <a:prstDash val="solid"/>
          </a:ln>
        </p:spPr>
      </p:sp>
      <p:pic>
        <p:nvPicPr>
          <p:cNvPr id="17" name="Image 3" descr="preencoded.png">    </p:cNvPr>
          <p:cNvPicPr>
            <a:picLocks noChangeAspect="1"/>
          </p:cNvPicPr>
          <p:nvPr/>
        </p:nvPicPr>
        <p:blipFill>
          <a:blip r:embed="rId4"/>
          <a:stretch>
            <a:fillRect/>
          </a:stretch>
        </p:blipFill>
        <p:spPr>
          <a:xfrm>
            <a:off x="804672" y="5047488"/>
            <a:ext cx="356616" cy="356616"/>
          </a:xfrm>
          <a:prstGeom prst="rect">
            <a:avLst/>
          </a:prstGeom>
        </p:spPr>
      </p:pic>
      <p:sp>
        <p:nvSpPr>
          <p:cNvPr id="18" name="Text 12"/>
          <p:cNvSpPr txBox="1"/>
          <p:nvPr/>
        </p:nvSpPr>
        <p:spPr>
          <a:xfrm>
            <a:off x="1554480" y="4864608"/>
            <a:ext cx="7772400" cy="384048"/>
          </a:xfrm>
          <a:prstGeom prst="rect">
            <a:avLst/>
          </a:prstGeom>
          <a:noFill/>
          <a:ln/>
        </p:spPr>
        <p:txBody>
          <a:bodyPr wrap="square" lIns="0" tIns="0" rIns="0" bIns="0" rtlCol="0" anchor="ctr"/>
          <a:lstStyle/>
          <a:p>
            <a:pPr indent="0" marL="0">
              <a:buNone/>
            </a:pPr>
            <a:r>
              <a:rPr lang="en-US" sz="1900" b="1" dirty="0">
                <a:solidFill>
                  <a:srgbClr val="FFFFFF"/>
                </a:solidFill>
              </a:rPr>
              <a:t>Prêt à grandir</a:t>
            </a:r>
            <a:endParaRPr lang="en-US" sz="1900" dirty="0"/>
          </a:p>
        </p:txBody>
      </p:sp>
      <p:sp>
        <p:nvSpPr>
          <p:cNvPr id="19" name="Text 13"/>
          <p:cNvSpPr txBox="1"/>
          <p:nvPr/>
        </p:nvSpPr>
        <p:spPr>
          <a:xfrm>
            <a:off x="1554480" y="5248656"/>
            <a:ext cx="7772400" cy="384048"/>
          </a:xfrm>
          <a:prstGeom prst="rect">
            <a:avLst/>
          </a:prstGeom>
          <a:noFill/>
          <a:ln/>
        </p:spPr>
        <p:txBody>
          <a:bodyPr wrap="square" lIns="0" tIns="0" rIns="0" bIns="0" rtlCol="0" anchor="ctr"/>
          <a:lstStyle/>
          <a:p>
            <a:pPr indent="0" marL="0">
              <a:buNone/>
            </a:pPr>
            <a:r>
              <a:rPr lang="en-US" sz="1400" dirty="0">
                <a:solidFill>
                  <a:srgbClr val="CADCFC"/>
                </a:solidFill>
              </a:rPr>
              <a:t>Vidéo gérée, montée en charge automatique, files qui absorbent les pics.</a:t>
            </a:r>
            <a:endParaRPr lang="en-US" sz="1400" dirty="0"/>
          </a:p>
        </p:txBody>
      </p:sp>
      <p:sp>
        <p:nvSpPr>
          <p:cNvPr id="20" name="Text 14"/>
          <p:cNvSpPr txBox="1"/>
          <p:nvPr/>
        </p:nvSpPr>
        <p:spPr>
          <a:xfrm>
            <a:off x="640080" y="5989320"/>
            <a:ext cx="5486400" cy="548640"/>
          </a:xfrm>
          <a:prstGeom prst="rect">
            <a:avLst/>
          </a:prstGeom>
          <a:noFill/>
          <a:ln/>
        </p:spPr>
        <p:txBody>
          <a:bodyPr wrap="square" lIns="0" tIns="0" rIns="0" bIns="0" rtlCol="0" anchor="ctr"/>
          <a:lstStyle/>
          <a:p>
            <a:pPr indent="0" marL="0">
              <a:buNone/>
            </a:pPr>
            <a:r>
              <a:rPr lang="en-US" sz="2400" b="1" dirty="0">
                <a:solidFill>
                  <a:srgbClr val="FFFFFF"/>
                </a:solidFill>
              </a:rPr>
              <a:t>Questions ?</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MedX — Architecture technique</dc:title>
  <dc:subject>PptxGenJS Presentation</dc:subject>
  <dc:creator>Ayman EL KARROUSSI, Abdoulaye FOFANA, Hamid AIT MIMOUN</dc:creator>
  <cp:lastModifiedBy>Ayman EL KARROUSSI, Abdoulaye FOFANA, Hamid AIT MIMOUN</cp:lastModifiedBy>
  <cp:revision>1</cp:revision>
  <dcterms:created xsi:type="dcterms:W3CDTF">2026-10-01T08:04:59Z</dcterms:created>
  <dcterms:modified xsi:type="dcterms:W3CDTF">2026-10-01T08:04:59Z</dcterms:modified>
</cp:coreProperties>
</file>